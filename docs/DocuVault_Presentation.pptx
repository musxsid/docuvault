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731520" y="1005840"/>
            <a:ext cx="914400" cy="914400"/>
          </a:xfrm>
          <a:prstGeom prst="rect">
            <a:avLst/>
          </a:prstGeom>
        </p:spPr>
      </p:pic>
      <p:sp>
        <p:nvSpPr>
          <p:cNvPr id="5" name="Rounded Rectangle 4"/>
          <p:cNvSpPr/>
          <p:nvPr/>
        </p:nvSpPr>
        <p:spPr>
          <a:xfrm>
            <a:off x="1783080" y="1051560"/>
            <a:ext cx="5303520" cy="310896"/>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37160" tIns="27432"/>
          <a:lstStyle/>
          <a:p>
            <a:pPr algn="ctr">
              <a:defRPr sz="950" b="1">
                <a:solidFill>
                  <a:srgbClr val="FF7A2E"/>
                </a:solidFill>
                <a:latin typeface="Segoe UI"/>
              </a:defRPr>
            </a:pPr>
            <a:r>
              <a:t>ESE – PART A: SDG-BASED PYTHON APPLICATION DEVELOPMENT</a:t>
            </a:r>
          </a:p>
        </p:txBody>
      </p:sp>
      <p:sp>
        <p:nvSpPr>
          <p:cNvPr id="6" name="TextBox 5"/>
          <p:cNvSpPr txBox="1"/>
          <p:nvPr/>
        </p:nvSpPr>
        <p:spPr>
          <a:xfrm>
            <a:off x="731520" y="2011680"/>
            <a:ext cx="10698480" cy="2103120"/>
          </a:xfrm>
          <a:prstGeom prst="rect">
            <a:avLst/>
          </a:prstGeom>
          <a:noFill/>
        </p:spPr>
        <p:txBody>
          <a:bodyPr wrap="square">
            <a:spAutoFit/>
          </a:bodyPr>
          <a:lstStyle/>
          <a:p>
            <a:pPr>
              <a:defRPr sz="4800" b="1">
                <a:solidFill>
                  <a:srgbClr val="FFFFFF"/>
                </a:solidFill>
                <a:latin typeface="Segoe UI"/>
              </a:defRPr>
            </a:pPr>
            <a:r>
              <a:t>DocuVault</a:t>
            </a:r>
          </a:p>
          <a:p>
            <a:pPr>
              <a:defRPr sz="2200" b="1">
                <a:solidFill>
                  <a:srgbClr val="FF7A2E"/>
                </a:solidFill>
                <a:latin typeface="Segoe UI"/>
              </a:defRPr>
            </a:pPr>
            <a:r>
              <a:t>Smart Document Management System</a:t>
            </a:r>
          </a:p>
          <a:p>
            <a:pPr>
              <a:defRPr sz="1300">
                <a:solidFill>
                  <a:srgbClr val="CBD5E1"/>
                </a:solidFill>
                <a:latin typeface="Segoe UI"/>
              </a:defRPr>
            </a:pPr>
            <a:r>
              <a:t>An enterprise-grade, offline-first Python ecosystem engineered for cryptographic file integrity, automated multi-class classification, explainable TF-IDF AI retrieval, and proactive compliance governance.</a:t>
            </a:r>
          </a:p>
        </p:txBody>
      </p:sp>
      <p:sp>
        <p:nvSpPr>
          <p:cNvPr id="7" name="Rounded Rectangle 6"/>
          <p:cNvSpPr/>
          <p:nvPr/>
        </p:nvSpPr>
        <p:spPr>
          <a:xfrm>
            <a:off x="731520" y="4480560"/>
            <a:ext cx="10728655" cy="169164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07738" y="4480560"/>
            <a:ext cx="13716" cy="16916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3956" y="4480560"/>
            <a:ext cx="13716" cy="16916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617720"/>
            <a:ext cx="3210458" cy="1371600"/>
          </a:xfrm>
          <a:prstGeom prst="rect">
            <a:avLst/>
          </a:prstGeom>
          <a:noFill/>
        </p:spPr>
        <p:txBody>
          <a:bodyPr wrap="square" lIns="0" rIns="0" tIns="0" bIns="0">
            <a:spAutoFit/>
          </a:bodyPr>
          <a:lstStyle/>
          <a:p>
            <a:pPr>
              <a:defRPr sz="1000" b="1">
                <a:solidFill>
                  <a:srgbClr val="FF7A2E"/>
                </a:solidFill>
                <a:latin typeface="Segoe UI"/>
              </a:defRPr>
            </a:pPr>
            <a:r>
              <a:t>INSTITUTION &amp; COURSE</a:t>
            </a:r>
          </a:p>
          <a:p>
            <a:pPr>
              <a:defRPr sz="1200" b="1">
                <a:solidFill>
                  <a:srgbClr val="FFFFFF"/>
                </a:solidFill>
                <a:latin typeface="Segoe UI"/>
              </a:defRPr>
            </a:pPr>
            <a:r>
              <a:t>Christ University Pune, Lavasa</a:t>
            </a:r>
          </a:p>
          <a:p>
            <a:pPr>
              <a:defRPr sz="1000">
                <a:solidFill>
                  <a:srgbClr val="94A3B8"/>
                </a:solidFill>
                <a:latin typeface="Segoe UI"/>
              </a:defRPr>
            </a:pPr>
            <a:r>
              <a:t>Course: Advanced Python (Postgraduate / M.Sc.)</a:t>
            </a:r>
            <a:br/>
            <a:r>
              <a:t>Project Group Number: 02</a:t>
            </a:r>
          </a:p>
        </p:txBody>
      </p:sp>
      <p:sp>
        <p:nvSpPr>
          <p:cNvPr id="11" name="TextBox 10"/>
          <p:cNvSpPr txBox="1"/>
          <p:nvPr/>
        </p:nvSpPr>
        <p:spPr>
          <a:xfrm>
            <a:off x="4490618" y="4617720"/>
            <a:ext cx="3210458" cy="1371600"/>
          </a:xfrm>
          <a:prstGeom prst="rect">
            <a:avLst/>
          </a:prstGeom>
          <a:noFill/>
        </p:spPr>
        <p:txBody>
          <a:bodyPr wrap="square" lIns="0" rIns="0" tIns="0" bIns="0">
            <a:spAutoFit/>
          </a:bodyPr>
          <a:lstStyle/>
          <a:p>
            <a:pPr>
              <a:defRPr sz="1000" b="1">
                <a:solidFill>
                  <a:srgbClr val="FF7A2E"/>
                </a:solidFill>
                <a:latin typeface="Segoe UI"/>
              </a:defRPr>
            </a:pPr>
            <a:r>
              <a:t>DEVELOPMENT TEAM</a:t>
            </a:r>
          </a:p>
          <a:p>
            <a:pPr>
              <a:defRPr sz="1200" b="1">
                <a:solidFill>
                  <a:srgbClr val="FFFFFF"/>
                </a:solidFill>
                <a:latin typeface="Segoe UI"/>
              </a:defRPr>
            </a:pPr>
            <a:r>
              <a:t>Siddharth Shakyawal (24112517)</a:t>
            </a:r>
            <a:br/>
            <a:r>
              <a:t>Shanya (24112520)</a:t>
            </a:r>
          </a:p>
          <a:p>
            <a:pPr>
              <a:defRPr sz="1000">
                <a:solidFill>
                  <a:srgbClr val="94A3B8"/>
                </a:solidFill>
                <a:latin typeface="Segoe UI"/>
              </a:defRPr>
            </a:pPr>
            <a:r>
              <a:t>Architecture, PyQt6 GUI, Vector ML &amp; Forensics</a:t>
            </a:r>
          </a:p>
        </p:txBody>
      </p:sp>
      <p:sp>
        <p:nvSpPr>
          <p:cNvPr id="12" name="TextBox 11"/>
          <p:cNvSpPr txBox="1"/>
          <p:nvPr/>
        </p:nvSpPr>
        <p:spPr>
          <a:xfrm>
            <a:off x="8066836" y="4617720"/>
            <a:ext cx="3210458" cy="1371600"/>
          </a:xfrm>
          <a:prstGeom prst="rect">
            <a:avLst/>
          </a:prstGeom>
          <a:noFill/>
        </p:spPr>
        <p:txBody>
          <a:bodyPr wrap="square" lIns="0" rIns="0" tIns="0" bIns="0">
            <a:spAutoFit/>
          </a:bodyPr>
          <a:lstStyle/>
          <a:p>
            <a:pPr>
              <a:defRPr sz="1000" b="1">
                <a:solidFill>
                  <a:srgbClr val="FF7A2E"/>
                </a:solidFill>
                <a:latin typeface="Segoe UI"/>
              </a:defRPr>
            </a:pPr>
            <a:r>
              <a:t>FACULTY SUPERVISOR</a:t>
            </a:r>
          </a:p>
          <a:p>
            <a:pPr>
              <a:defRPr sz="1200" b="1">
                <a:solidFill>
                  <a:srgbClr val="FFFFFF"/>
                </a:solidFill>
                <a:latin typeface="Segoe UI"/>
              </a:defRPr>
            </a:pPr>
            <a:r>
              <a:t>Prof. Rohit Gupta</a:t>
            </a:r>
          </a:p>
          <a:p>
            <a:pPr>
              <a:defRPr sz="1000">
                <a:solidFill>
                  <a:srgbClr val="94A3B8"/>
                </a:solidFill>
                <a:latin typeface="Segoe UI"/>
              </a:defRPr>
            </a:pPr>
            <a:r>
              <a:t>Assistant Professor, Dept. of Computer Science</a:t>
            </a:r>
            <a:br/>
            <a:r>
              <a:t>Demonstration &amp; Academic Review: Oct 2026</a:t>
            </a:r>
          </a:p>
        </p:txBody>
      </p:sp>
      <p:sp>
        <p:nvSpPr>
          <p:cNvPr id="13" name="Rectangle 12"/>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15" name="TextBox 14"/>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16" name="TextBox 15"/>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01 / PROJECT NEED &amp; CHALLENGE</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The Challenge in Modern Document Governance</a:t>
            </a:r>
          </a:p>
          <a:p>
            <a:pPr>
              <a:defRPr sz="1150">
                <a:solidFill>
                  <a:srgbClr val="94A3B8"/>
                </a:solidFill>
                <a:latin typeface="Segoe UI"/>
              </a:defRPr>
            </a:pPr>
            <a:r>
              <a:t>Organizations face mounting risks from unstructured silos, undetected file tampering, and buried clauses.</a:t>
            </a:r>
          </a:p>
        </p:txBody>
      </p:sp>
      <p:sp>
        <p:nvSpPr>
          <p:cNvPr id="6" name="Rounded Rectangle 5"/>
          <p:cNvSpPr/>
          <p:nvPr/>
        </p:nvSpPr>
        <p:spPr>
          <a:xfrm>
            <a:off x="731520" y="1691640"/>
            <a:ext cx="10728655" cy="448056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847" y="1691640"/>
            <a:ext cx="13716" cy="379476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566159"/>
            <a:ext cx="10728655" cy="13716"/>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5486400"/>
            <a:ext cx="10728655" cy="13716"/>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801368"/>
            <a:ext cx="4907127" cy="1691639"/>
          </a:xfrm>
          <a:prstGeom prst="rect">
            <a:avLst/>
          </a:prstGeom>
          <a:noFill/>
        </p:spPr>
        <p:txBody>
          <a:bodyPr wrap="square" lIns="0" rIns="0" tIns="0" bIns="0">
            <a:spAutoFit/>
          </a:bodyPr>
          <a:lstStyle/>
          <a:p>
            <a:pPr>
              <a:defRPr sz="1250" b="1">
                <a:solidFill>
                  <a:srgbClr val="FF7A2E"/>
                </a:solidFill>
                <a:latin typeface="Segoe UI"/>
              </a:defRPr>
            </a:pPr>
            <a:r>
              <a:t>01 / Severe File Fragmentation &amp; Sprawl</a:t>
            </a:r>
          </a:p>
          <a:p>
            <a:pPr>
              <a:defRPr sz="1000">
                <a:solidFill>
                  <a:srgbClr val="CBD5E1"/>
                </a:solidFill>
                <a:latin typeface="Segoe UI"/>
              </a:defRPr>
            </a:pPr>
            <a:r>
              <a:t>•  Documents scattered across unorganized directories, user desktops, and shared drives.</a:t>
            </a:r>
          </a:p>
          <a:p>
            <a:pPr>
              <a:defRPr sz="1000">
                <a:solidFill>
                  <a:srgbClr val="CBD5E1"/>
                </a:solidFill>
                <a:latin typeface="Segoe UI"/>
              </a:defRPr>
            </a:pPr>
            <a:r>
              <a:t>•  Conflicting draft revisions cause operational mistakes and administrative confusion.</a:t>
            </a:r>
          </a:p>
          <a:p>
            <a:pPr>
              <a:defRPr sz="1000">
                <a:solidFill>
                  <a:srgbClr val="CBD5E1"/>
                </a:solidFill>
                <a:latin typeface="Segoe UI"/>
              </a:defRPr>
            </a:pPr>
            <a:r>
              <a:t>•  Manual folder browsing wastes hours locating routine contracts, invoices, and reports.</a:t>
            </a:r>
          </a:p>
        </p:txBody>
      </p:sp>
      <p:sp>
        <p:nvSpPr>
          <p:cNvPr id="11" name="TextBox 10"/>
          <p:cNvSpPr txBox="1"/>
          <p:nvPr/>
        </p:nvSpPr>
        <p:spPr>
          <a:xfrm>
            <a:off x="6370167" y="1801368"/>
            <a:ext cx="4907127" cy="1691639"/>
          </a:xfrm>
          <a:prstGeom prst="rect">
            <a:avLst/>
          </a:prstGeom>
          <a:noFill/>
        </p:spPr>
        <p:txBody>
          <a:bodyPr wrap="square" lIns="0" rIns="0" tIns="0" bIns="0">
            <a:spAutoFit/>
          </a:bodyPr>
          <a:lstStyle/>
          <a:p>
            <a:pPr>
              <a:defRPr sz="1250" b="1">
                <a:solidFill>
                  <a:srgbClr val="FF7A2E"/>
                </a:solidFill>
                <a:latin typeface="Segoe UI"/>
              </a:defRPr>
            </a:pPr>
            <a:r>
              <a:t>02 / Silent Corruption &amp; Tamper Vulnerabilities</a:t>
            </a:r>
          </a:p>
          <a:p>
            <a:pPr>
              <a:defRPr sz="1000">
                <a:solidFill>
                  <a:srgbClr val="CBD5E1"/>
                </a:solidFill>
                <a:latin typeface="Segoe UI"/>
              </a:defRPr>
            </a:pPr>
            <a:r>
              <a:t>•  Standard operating systems cannot detect if a stored PDF was maliciously altered.</a:t>
            </a:r>
          </a:p>
          <a:p>
            <a:pPr>
              <a:defRPr sz="1000">
                <a:solidFill>
                  <a:srgbClr val="CBD5E1"/>
                </a:solidFill>
                <a:latin typeface="Segoe UI"/>
              </a:defRPr>
            </a:pPr>
            <a:r>
              <a:t>•  Disguised executable payloads exploit file extension spoofing without inspection.</a:t>
            </a:r>
          </a:p>
          <a:p>
            <a:pPr>
              <a:defRPr sz="1000">
                <a:solidFill>
                  <a:srgbClr val="CBD5E1"/>
                </a:solidFill>
                <a:latin typeface="Segoe UI"/>
              </a:defRPr>
            </a:pPr>
            <a:r>
              <a:t>•  Lack of continuous cryptographic verification compromises legal provenance.</a:t>
            </a:r>
          </a:p>
        </p:txBody>
      </p:sp>
      <p:sp>
        <p:nvSpPr>
          <p:cNvPr id="12" name="TextBox 11"/>
          <p:cNvSpPr txBox="1"/>
          <p:nvPr/>
        </p:nvSpPr>
        <p:spPr>
          <a:xfrm>
            <a:off x="960120" y="3675887"/>
            <a:ext cx="4907127" cy="1691639"/>
          </a:xfrm>
          <a:prstGeom prst="rect">
            <a:avLst/>
          </a:prstGeom>
          <a:noFill/>
        </p:spPr>
        <p:txBody>
          <a:bodyPr wrap="square" lIns="0" rIns="0" tIns="0" bIns="0">
            <a:spAutoFit/>
          </a:bodyPr>
          <a:lstStyle/>
          <a:p>
            <a:pPr>
              <a:defRPr sz="1250" b="1">
                <a:solidFill>
                  <a:srgbClr val="FF7A2E"/>
                </a:solidFill>
                <a:latin typeface="Segoe UI"/>
              </a:defRPr>
            </a:pPr>
            <a:r>
              <a:t>03 / Search Friction &amp; Buried Intelligence</a:t>
            </a:r>
          </a:p>
          <a:p>
            <a:pPr>
              <a:defRPr sz="1000">
                <a:solidFill>
                  <a:srgbClr val="CBD5E1"/>
                </a:solidFill>
                <a:latin typeface="Segoe UI"/>
              </a:defRPr>
            </a:pPr>
            <a:r>
              <a:t>•  Critical clauses (indemnity limits, milestones) remain buried in lengthy 50+ page PDFs.</a:t>
            </a:r>
          </a:p>
          <a:p>
            <a:pPr>
              <a:defRPr sz="1000">
                <a:solidFill>
                  <a:srgbClr val="CBD5E1"/>
                </a:solidFill>
                <a:latin typeface="Segoe UI"/>
              </a:defRPr>
            </a:pPr>
            <a:r>
              <a:t>•  Routine keyword lookups fail across unstructured document formats and clause variations.</a:t>
            </a:r>
          </a:p>
          <a:p>
            <a:pPr>
              <a:defRPr sz="1000">
                <a:solidFill>
                  <a:srgbClr val="CBD5E1"/>
                </a:solidFill>
                <a:latin typeface="Segoe UI"/>
              </a:defRPr>
            </a:pPr>
            <a:r>
              <a:t>•  Zero attribution: operators cannot easily verify the exact source page for answers.</a:t>
            </a:r>
          </a:p>
        </p:txBody>
      </p:sp>
      <p:sp>
        <p:nvSpPr>
          <p:cNvPr id="13" name="TextBox 12"/>
          <p:cNvSpPr txBox="1"/>
          <p:nvPr/>
        </p:nvSpPr>
        <p:spPr>
          <a:xfrm>
            <a:off x="6370167" y="3675887"/>
            <a:ext cx="4907127" cy="1691639"/>
          </a:xfrm>
          <a:prstGeom prst="rect">
            <a:avLst/>
          </a:prstGeom>
          <a:noFill/>
        </p:spPr>
        <p:txBody>
          <a:bodyPr wrap="square" lIns="0" rIns="0" tIns="0" bIns="0">
            <a:spAutoFit/>
          </a:bodyPr>
          <a:lstStyle/>
          <a:p>
            <a:pPr>
              <a:defRPr sz="1250" b="1">
                <a:solidFill>
                  <a:srgbClr val="FF7A2E"/>
                </a:solidFill>
                <a:latin typeface="Segoe UI"/>
              </a:defRPr>
            </a:pPr>
            <a:r>
              <a:t>04 / Compliance Lapses &amp; PII Exposure</a:t>
            </a:r>
          </a:p>
          <a:p>
            <a:pPr>
              <a:defRPr sz="1000">
                <a:solidFill>
                  <a:srgbClr val="CBD5E1"/>
                </a:solidFill>
                <a:latin typeface="Segoe UI"/>
              </a:defRPr>
            </a:pPr>
            <a:r>
              <a:t>•  Missed renewal deadlines and statutory compliance milestones without holiday awareness.</a:t>
            </a:r>
          </a:p>
          <a:p>
            <a:pPr>
              <a:defRPr sz="1000">
                <a:solidFill>
                  <a:srgbClr val="CBD5E1"/>
                </a:solidFill>
                <a:latin typeface="Segoe UI"/>
              </a:defRPr>
            </a:pPr>
            <a:r>
              <a:t>•  Unprotected Personally Identifiable Information (phone numbers, emails, payment cards).</a:t>
            </a:r>
          </a:p>
          <a:p>
            <a:pPr>
              <a:defRPr sz="1000">
                <a:solidFill>
                  <a:srgbClr val="CBD5E1"/>
                </a:solidFill>
                <a:latin typeface="Segoe UI"/>
              </a:defRPr>
            </a:pPr>
            <a:r>
              <a:t>•  Absence of immutable, timestamped audit logging for institutional governance.</a:t>
            </a:r>
          </a:p>
        </p:txBody>
      </p:sp>
      <p:sp>
        <p:nvSpPr>
          <p:cNvPr id="14" name="TextBox 13"/>
          <p:cNvSpPr txBox="1"/>
          <p:nvPr/>
        </p:nvSpPr>
        <p:spPr>
          <a:xfrm>
            <a:off x="960120" y="5577840"/>
            <a:ext cx="10271455" cy="548640"/>
          </a:xfrm>
          <a:prstGeom prst="rect">
            <a:avLst/>
          </a:prstGeom>
          <a:noFill/>
        </p:spPr>
        <p:txBody>
          <a:bodyPr wrap="square" lIns="0" rIns="0" tIns="0" bIns="0">
            <a:spAutoFit/>
          </a:bodyPr>
          <a:lstStyle/>
          <a:p>
            <a:pPr>
              <a:defRPr sz="1050" b="1">
                <a:solidFill>
                  <a:srgbClr val="FF7A2E"/>
                </a:solidFill>
                <a:latin typeface="Segoe UI"/>
              </a:defRPr>
            </a:pPr>
            <a:r>
              <a:t>THE DOCUVAULT SOLUTION</a:t>
            </a:r>
          </a:p>
          <a:p>
            <a:pPr>
              <a:defRPr sz="1000">
                <a:solidFill>
                  <a:srgbClr val="FFFFFF"/>
                </a:solidFill>
                <a:latin typeface="Segoe UI"/>
              </a:defRPr>
            </a:pPr>
            <a:r>
              <a:t>Unifies binary validation, SHA-256 fingerprinting, automated taxonomy, explainable TF-IDF AI retrieval, and compliance into a coordinated offline Python architecture.</a:t>
            </a:r>
          </a:p>
        </p:txBody>
      </p:sp>
      <p:sp>
        <p:nvSpPr>
          <p:cNvPr id="15" name="Rectangle 14"/>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17" name="TextBox 16"/>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18" name="TextBox 17"/>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02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02 / PROJECT OBJECTIVES</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Architectural Objectives &amp; Engineering Pillars</a:t>
            </a:r>
          </a:p>
          <a:p>
            <a:pPr>
              <a:defRPr sz="1150">
                <a:solidFill>
                  <a:srgbClr val="94A3B8"/>
                </a:solidFill>
                <a:latin typeface="Segoe UI"/>
              </a:defRPr>
            </a:pPr>
            <a:r>
              <a:t>Designed to establish an immutable, intelligent, and privacy-preserving document management ecosystem.</a:t>
            </a:r>
          </a:p>
        </p:txBody>
      </p:sp>
      <p:sp>
        <p:nvSpPr>
          <p:cNvPr id="6" name="Rounded Rectangle 5"/>
          <p:cNvSpPr/>
          <p:nvPr/>
        </p:nvSpPr>
        <p:spPr>
          <a:xfrm>
            <a:off x="731520" y="1691640"/>
            <a:ext cx="10728655" cy="448056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13683" y="1691640"/>
            <a:ext cx="13716" cy="448056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5847" y="1691640"/>
            <a:ext cx="13716" cy="448056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778011" y="1691640"/>
            <a:ext cx="13716" cy="448056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74520"/>
            <a:ext cx="2316403" cy="4114800"/>
          </a:xfrm>
          <a:prstGeom prst="rect">
            <a:avLst/>
          </a:prstGeom>
          <a:noFill/>
        </p:spPr>
        <p:txBody>
          <a:bodyPr wrap="square">
            <a:spAutoFit/>
          </a:bodyPr>
          <a:lstStyle/>
          <a:p>
            <a:pPr>
              <a:defRPr sz="1250" b="1">
                <a:solidFill>
                  <a:srgbClr val="FF7A2E"/>
                </a:solidFill>
                <a:latin typeface="Segoe UI"/>
              </a:defRPr>
            </a:pPr>
            <a:r>
              <a:t>01  •  Cryptographic Integrity</a:t>
            </a:r>
          </a:p>
          <a:p>
            <a:pPr>
              <a:defRPr sz="800">
                <a:solidFill>
                  <a:srgbClr val="232330"/>
                </a:solidFill>
                <a:latin typeface="Segoe UI"/>
              </a:defRPr>
            </a:pPr>
            <a:r>
              <a:t>——————————————————</a:t>
            </a:r>
          </a:p>
          <a:p>
            <a:pPr>
              <a:defRPr sz="950">
                <a:solidFill>
                  <a:srgbClr val="CBD5E1"/>
                </a:solidFill>
                <a:latin typeface="Segoe UI"/>
              </a:defRPr>
            </a:pPr>
            <a:r>
              <a:t>•  Binary magic-byte inspection (%PDF-, PK\x03\x04) definitively validating file formats.</a:t>
            </a:r>
          </a:p>
          <a:p>
            <a:pPr>
              <a:defRPr sz="950">
                <a:solidFill>
                  <a:srgbClr val="CBD5E1"/>
                </a:solidFill>
                <a:latin typeface="Segoe UI"/>
              </a:defRPr>
            </a:pPr>
            <a:r>
              <a:t>•  Deterministic SHA-256 digital fingerprinting computed on intake and indexed in MongoDB.</a:t>
            </a:r>
          </a:p>
          <a:p>
            <a:pPr>
              <a:defRPr sz="950">
                <a:solidFill>
                  <a:srgbClr val="CBD5E1"/>
                </a:solidFill>
                <a:latin typeface="Segoe UI"/>
              </a:defRPr>
            </a:pPr>
            <a:r>
              <a:t>•  Continuous background integrity scans detecting silent bit-rot and unauthorized edits.</a:t>
            </a:r>
          </a:p>
          <a:p>
            <a:pPr>
              <a:defRPr sz="950">
                <a:solidFill>
                  <a:srgbClr val="CBD5E1"/>
                </a:solidFill>
                <a:latin typeface="Segoe UI"/>
              </a:defRPr>
            </a:pPr>
            <a:r>
              <a:t>•  Instant quarantine isolation for corrupted files, maintaining 100/100 health score.</a:t>
            </a:r>
          </a:p>
        </p:txBody>
      </p:sp>
      <p:sp>
        <p:nvSpPr>
          <p:cNvPr id="11" name="TextBox 10"/>
          <p:cNvSpPr txBox="1"/>
          <p:nvPr/>
        </p:nvSpPr>
        <p:spPr>
          <a:xfrm>
            <a:off x="3596563" y="1874520"/>
            <a:ext cx="2316403" cy="4114800"/>
          </a:xfrm>
          <a:prstGeom prst="rect">
            <a:avLst/>
          </a:prstGeom>
          <a:noFill/>
        </p:spPr>
        <p:txBody>
          <a:bodyPr wrap="square">
            <a:spAutoFit/>
          </a:bodyPr>
          <a:lstStyle/>
          <a:p>
            <a:pPr>
              <a:defRPr sz="1250" b="1">
                <a:solidFill>
                  <a:srgbClr val="3B82F6"/>
                </a:solidFill>
                <a:latin typeface="Segoe UI"/>
              </a:defRPr>
            </a:pPr>
            <a:r>
              <a:t>02  •  Automated Taxonomy</a:t>
            </a:r>
          </a:p>
          <a:p>
            <a:pPr>
              <a:defRPr sz="800">
                <a:solidFill>
                  <a:srgbClr val="232330"/>
                </a:solidFill>
                <a:latin typeface="Segoe UI"/>
              </a:defRPr>
            </a:pPr>
            <a:r>
              <a:t>——————————————————</a:t>
            </a:r>
          </a:p>
          <a:p>
            <a:pPr>
              <a:defRPr sz="950">
                <a:solidFill>
                  <a:srgbClr val="CBD5E1"/>
                </a:solidFill>
                <a:latin typeface="Segoe UI"/>
              </a:defRPr>
            </a:pPr>
            <a:r>
              <a:t>•  Streaming multi-format parsing (PDF, XML, TXT) powered by PyMuPDF.</a:t>
            </a:r>
          </a:p>
          <a:p>
            <a:pPr>
              <a:defRPr sz="950">
                <a:solidFill>
                  <a:srgbClr val="CBD5E1"/>
                </a:solidFill>
                <a:latin typeface="Segoe UI"/>
              </a:defRPr>
            </a:pPr>
            <a:r>
              <a:t>•  Automatic classification into 5 semantic domains: Legal, Medical, Financial, Academic, General.</a:t>
            </a:r>
          </a:p>
          <a:p>
            <a:pPr>
              <a:defRPr sz="950">
                <a:solidFill>
                  <a:srgbClr val="CBD5E1"/>
                </a:solidFill>
                <a:latin typeface="Segoe UI"/>
              </a:defRPr>
            </a:pPr>
            <a:r>
              <a:t>•  Regex-driven entity extraction: counterparties, governing law, invoice amounts, and terms.</a:t>
            </a:r>
          </a:p>
          <a:p>
            <a:pPr>
              <a:defRPr sz="950">
                <a:solidFill>
                  <a:srgbClr val="CBD5E1"/>
                </a:solidFill>
                <a:latin typeface="Segoe UI"/>
              </a:defRPr>
            </a:pPr>
            <a:r>
              <a:t>•  Two-tier deduplication: O(1) hash matches + SequenceMatcher near-duplicate similarity.</a:t>
            </a:r>
          </a:p>
        </p:txBody>
      </p:sp>
      <p:sp>
        <p:nvSpPr>
          <p:cNvPr id="12" name="TextBox 11"/>
          <p:cNvSpPr txBox="1"/>
          <p:nvPr/>
        </p:nvSpPr>
        <p:spPr>
          <a:xfrm>
            <a:off x="6278727" y="1874520"/>
            <a:ext cx="2316403" cy="4114800"/>
          </a:xfrm>
          <a:prstGeom prst="rect">
            <a:avLst/>
          </a:prstGeom>
          <a:noFill/>
        </p:spPr>
        <p:txBody>
          <a:bodyPr wrap="square">
            <a:spAutoFit/>
          </a:bodyPr>
          <a:lstStyle/>
          <a:p>
            <a:pPr>
              <a:defRPr sz="1250" b="1">
                <a:solidFill>
                  <a:srgbClr val="FF7A2E"/>
                </a:solidFill>
                <a:latin typeface="Segoe UI"/>
              </a:defRPr>
            </a:pPr>
            <a:r>
              <a:t>03  •  Explainable AI Retrieval</a:t>
            </a:r>
          </a:p>
          <a:p>
            <a:pPr>
              <a:defRPr sz="800">
                <a:solidFill>
                  <a:srgbClr val="232330"/>
                </a:solidFill>
                <a:latin typeface="Segoe UI"/>
              </a:defRPr>
            </a:pPr>
            <a:r>
              <a:t>——————————————————</a:t>
            </a:r>
          </a:p>
          <a:p>
            <a:pPr>
              <a:defRPr sz="950">
                <a:solidFill>
                  <a:srgbClr val="CBD5E1"/>
                </a:solidFill>
                <a:latin typeface="Segoe UI"/>
              </a:defRPr>
            </a:pPr>
            <a:r>
              <a:t>•  Air-gapped TF-IDF vector matrix built from first principles using NumPy arrays.</a:t>
            </a:r>
          </a:p>
          <a:p>
            <a:pPr>
              <a:defRPr sz="950">
                <a:solidFill>
                  <a:srgbClr val="CBD5E1"/>
                </a:solidFill>
                <a:latin typeface="Segoe UI"/>
              </a:defRPr>
            </a:pPr>
            <a:r>
              <a:t>•  Mathematical cosine similarity dot-product ranking in 0.12 s on standard CPU.</a:t>
            </a:r>
          </a:p>
          <a:p>
            <a:pPr>
              <a:defRPr sz="950">
                <a:solidFill>
                  <a:srgbClr val="CBD5E1"/>
                </a:solidFill>
                <a:latin typeface="Segoe UI"/>
              </a:defRPr>
            </a:pPr>
            <a:r>
              <a:t>•  Verifiable source citations linking answers to exact document filenames and page numbers.</a:t>
            </a:r>
          </a:p>
          <a:p>
            <a:pPr>
              <a:defRPr sz="950">
                <a:solidFill>
                  <a:srgbClr val="CBD5E1"/>
                </a:solidFill>
                <a:latin typeface="Segoe UI"/>
              </a:defRPr>
            </a:pPr>
            <a:r>
              <a:t>•  100% offline execution guaranteeing zero cloud exfiltration of confidential intelligence.</a:t>
            </a:r>
          </a:p>
        </p:txBody>
      </p:sp>
      <p:sp>
        <p:nvSpPr>
          <p:cNvPr id="13" name="TextBox 12"/>
          <p:cNvSpPr txBox="1"/>
          <p:nvPr/>
        </p:nvSpPr>
        <p:spPr>
          <a:xfrm>
            <a:off x="8960891" y="1874520"/>
            <a:ext cx="2316403" cy="4114800"/>
          </a:xfrm>
          <a:prstGeom prst="rect">
            <a:avLst/>
          </a:prstGeom>
          <a:noFill/>
        </p:spPr>
        <p:txBody>
          <a:bodyPr wrap="square">
            <a:spAutoFit/>
          </a:bodyPr>
          <a:lstStyle/>
          <a:p>
            <a:pPr>
              <a:defRPr sz="1250" b="1">
                <a:solidFill>
                  <a:srgbClr val="10B981"/>
                </a:solidFill>
                <a:latin typeface="Segoe UI"/>
              </a:defRPr>
            </a:pPr>
            <a:r>
              <a:t>04  •  Compliance &amp; Security</a:t>
            </a:r>
          </a:p>
          <a:p>
            <a:pPr>
              <a:defRPr sz="800">
                <a:solidFill>
                  <a:srgbClr val="232330"/>
                </a:solidFill>
                <a:latin typeface="Segoe UI"/>
              </a:defRPr>
            </a:pPr>
            <a:r>
              <a:t>——————————————————</a:t>
            </a:r>
          </a:p>
          <a:p>
            <a:pPr>
              <a:defRPr sz="950">
                <a:solidFill>
                  <a:srgbClr val="CBD5E1"/>
                </a:solidFill>
                <a:latin typeface="Segoe UI"/>
              </a:defRPr>
            </a:pPr>
            <a:r>
              <a:t>•  Automated regex redaction masking phone numbers, emails, and payment card numbers.</a:t>
            </a:r>
          </a:p>
          <a:p>
            <a:pPr>
              <a:defRPr sz="950">
                <a:solidFill>
                  <a:srgbClr val="CBD5E1"/>
                </a:solidFill>
                <a:latin typeface="Segoe UI"/>
              </a:defRPr>
            </a:pPr>
            <a:r>
              <a:t>•  Holiday-aware deadline calculation engine shifting dates past weekends and official holidays.</a:t>
            </a:r>
          </a:p>
          <a:p>
            <a:pPr>
              <a:defRPr sz="950">
                <a:solidFill>
                  <a:srgbClr val="CBD5E1"/>
                </a:solidFill>
                <a:latin typeface="Segoe UI"/>
              </a:defRPr>
            </a:pPr>
            <a:r>
              <a:t>•  Nager.Date public REST API integration with standard iCalendar (.ics) export.</a:t>
            </a:r>
          </a:p>
          <a:p>
            <a:pPr>
              <a:defRPr sz="950">
                <a:solidFill>
                  <a:srgbClr val="CBD5E1"/>
                </a:solidFill>
                <a:latin typeface="Segoe UI"/>
              </a:defRPr>
            </a:pPr>
            <a:r>
              <a:t>•  Tamper-evident SQLite3 audit logging recording user actions with 1-click CSV export.</a:t>
            </a:r>
          </a:p>
        </p:txBody>
      </p:sp>
      <p:sp>
        <p:nvSpPr>
          <p:cNvPr id="14" name="Rectangle 13"/>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16" name="TextBox 15"/>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17" name="TextBox 16"/>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03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03 / SOCIAL RELEVANCE &amp; SDGS</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Sustainable Development Goals (SDG) Alignment</a:t>
            </a:r>
          </a:p>
          <a:p>
            <a:pPr>
              <a:defRPr sz="1150">
                <a:solidFill>
                  <a:srgbClr val="94A3B8"/>
                </a:solidFill>
                <a:latin typeface="Segoe UI"/>
              </a:defRPr>
            </a:pPr>
            <a:r>
              <a:t>Directly advancing institutional transparency, paperless sustainability, and resilient software infrastructure.</a:t>
            </a:r>
          </a:p>
        </p:txBody>
      </p:sp>
      <p:sp>
        <p:nvSpPr>
          <p:cNvPr id="6" name="Rounded Rectangle 5"/>
          <p:cNvSpPr/>
          <p:nvPr/>
        </p:nvSpPr>
        <p:spPr>
          <a:xfrm>
            <a:off x="731520" y="1691640"/>
            <a:ext cx="10728655" cy="448056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5040" y="1691640"/>
            <a:ext cx="13716" cy="384048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35040" y="3611880"/>
            <a:ext cx="5425135" cy="13716"/>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5532120"/>
            <a:ext cx="10728655" cy="13716"/>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856232"/>
            <a:ext cx="4892040" cy="3566160"/>
          </a:xfrm>
          <a:prstGeom prst="rect">
            <a:avLst/>
          </a:prstGeom>
          <a:noFill/>
        </p:spPr>
        <p:txBody>
          <a:bodyPr wrap="square" lIns="0" rIns="0" tIns="0" bIns="0">
            <a:spAutoFit/>
          </a:bodyPr>
          <a:lstStyle/>
          <a:p>
            <a:pPr>
              <a:defRPr sz="1000" b="1">
                <a:solidFill>
                  <a:srgbClr val="FF7A2E"/>
                </a:solidFill>
                <a:latin typeface="Segoe UI"/>
              </a:defRPr>
            </a:pPr>
            <a:r>
              <a:t>PRIMARY GOAL • UN SDG 16</a:t>
            </a:r>
          </a:p>
          <a:p>
            <a:pPr>
              <a:defRPr sz="1700" b="1">
                <a:solidFill>
                  <a:srgbClr val="FFFFFF"/>
                </a:solidFill>
                <a:latin typeface="Segoe UI"/>
              </a:defRPr>
            </a:pPr>
            <a:r>
              <a:t>Peace, Justice &amp; Strong Institutions</a:t>
            </a:r>
          </a:p>
          <a:p>
            <a:pPr>
              <a:defRPr sz="1050" b="1">
                <a:solidFill>
                  <a:srgbClr val="FF9D66"/>
                </a:solidFill>
                <a:latin typeface="Segoe UI"/>
              </a:defRPr>
            </a:pPr>
            <a:r>
              <a:t>✓  Target 16.6 — Accountable Institutions</a:t>
            </a:r>
          </a:p>
          <a:p>
            <a:pPr>
              <a:defRPr sz="950">
                <a:solidFill>
                  <a:srgbClr val="CBD5E1"/>
                </a:solidFill>
                <a:latin typeface="Segoe UI"/>
              </a:defRPr>
            </a:pPr>
            <a:r>
              <a:t>Cryptographic SHA-256 fingerprinting ensures record immutability. If any document is altered, the system flags the discrepancy and isolates the file, preventing administrative corruption.</a:t>
            </a:r>
          </a:p>
          <a:p>
            <a:pPr>
              <a:defRPr sz="1050" b="1">
                <a:solidFill>
                  <a:srgbClr val="FF9D66"/>
                </a:solidFill>
                <a:latin typeface="Segoe UI"/>
              </a:defRPr>
            </a:pPr>
            <a:r>
              <a:t>✓  Target 16.10 — Public &amp; Transparent Access</a:t>
            </a:r>
          </a:p>
          <a:p>
            <a:pPr>
              <a:defRPr sz="950">
                <a:solidFill>
                  <a:srgbClr val="CBD5E1"/>
                </a:solidFill>
                <a:latin typeface="Segoe UI"/>
              </a:defRPr>
            </a:pPr>
            <a:r>
              <a:t>High-speed TF-IDF semantic search allows authorized auditors and users to immediately verify contractual clauses, legal obligations, and rights without technical friction.</a:t>
            </a:r>
          </a:p>
          <a:p>
            <a:pPr>
              <a:defRPr sz="1050" b="1">
                <a:solidFill>
                  <a:srgbClr val="FF9D66"/>
                </a:solidFill>
                <a:latin typeface="Segoe UI"/>
              </a:defRPr>
            </a:pPr>
            <a:r>
              <a:t>✓  Granular Traceability &amp; Evidence</a:t>
            </a:r>
          </a:p>
          <a:p>
            <a:pPr>
              <a:defRPr sz="950">
                <a:solidFill>
                  <a:srgbClr val="CBD5E1"/>
                </a:solidFill>
                <a:latin typeface="Segoe UI"/>
              </a:defRPr>
            </a:pPr>
            <a:r>
              <a:t>Every file save, query, and verification event is immutably logged into an audit trail with exact timestamps, user credentials, and 1-click CSV export.</a:t>
            </a:r>
          </a:p>
        </p:txBody>
      </p:sp>
      <p:sp>
        <p:nvSpPr>
          <p:cNvPr id="11" name="TextBox 10"/>
          <p:cNvSpPr txBox="1"/>
          <p:nvPr/>
        </p:nvSpPr>
        <p:spPr>
          <a:xfrm>
            <a:off x="6309360" y="1856232"/>
            <a:ext cx="4846320" cy="1645920"/>
          </a:xfrm>
          <a:prstGeom prst="rect">
            <a:avLst/>
          </a:prstGeom>
          <a:noFill/>
        </p:spPr>
        <p:txBody>
          <a:bodyPr wrap="square" lIns="0" rIns="0" tIns="0" bIns="0">
            <a:spAutoFit/>
          </a:bodyPr>
          <a:lstStyle/>
          <a:p>
            <a:pPr>
              <a:defRPr sz="950" b="1">
                <a:solidFill>
                  <a:srgbClr val="3B82F6"/>
                </a:solidFill>
                <a:latin typeface="Segoe UI"/>
              </a:defRPr>
            </a:pPr>
            <a:r>
              <a:t>SUPPORTING GOAL • UN SDG 9</a:t>
            </a:r>
          </a:p>
          <a:p>
            <a:pPr>
              <a:defRPr sz="1300" b="1">
                <a:solidFill>
                  <a:srgbClr val="FFFFFF"/>
                </a:solidFill>
                <a:latin typeface="Segoe UI"/>
              </a:defRPr>
            </a:pPr>
            <a:r>
              <a:t>Industry, Innovation &amp; Infrastructure</a:t>
            </a:r>
          </a:p>
          <a:p>
            <a:pPr>
              <a:defRPr sz="900">
                <a:solidFill>
                  <a:srgbClr val="CBD5E1"/>
                </a:solidFill>
                <a:latin typeface="Segoe UI"/>
              </a:defRPr>
            </a:pPr>
            <a:r>
              <a:t>•  Built on a modular, decoupled Python architecture (PyQt6 + Flask + Streamlit).</a:t>
            </a:r>
          </a:p>
          <a:p>
            <a:pPr>
              <a:defRPr sz="900">
                <a:solidFill>
                  <a:srgbClr val="CBD5E1"/>
                </a:solidFill>
                <a:latin typeface="Segoe UI"/>
              </a:defRPr>
            </a:pPr>
            <a:r>
              <a:t>•  Operates 100% air-gapped / offline, providing resilient digital infrastructure for resource-constrained or sensitive environments without cloud paywalls.</a:t>
            </a:r>
          </a:p>
        </p:txBody>
      </p:sp>
      <p:sp>
        <p:nvSpPr>
          <p:cNvPr id="12" name="TextBox 11"/>
          <p:cNvSpPr txBox="1"/>
          <p:nvPr/>
        </p:nvSpPr>
        <p:spPr>
          <a:xfrm>
            <a:off x="6309360" y="3749040"/>
            <a:ext cx="4846320" cy="1645920"/>
          </a:xfrm>
          <a:prstGeom prst="rect">
            <a:avLst/>
          </a:prstGeom>
          <a:noFill/>
        </p:spPr>
        <p:txBody>
          <a:bodyPr wrap="square" lIns="0" rIns="0" tIns="0" bIns="0">
            <a:spAutoFit/>
          </a:bodyPr>
          <a:lstStyle/>
          <a:p>
            <a:pPr>
              <a:defRPr sz="950" b="1">
                <a:solidFill>
                  <a:srgbClr val="10B981"/>
                </a:solidFill>
                <a:latin typeface="Segoe UI"/>
              </a:defRPr>
            </a:pPr>
            <a:r>
              <a:t>SUPPORTING GOAL • UN SDG 12</a:t>
            </a:r>
          </a:p>
          <a:p>
            <a:pPr>
              <a:defRPr sz="1300" b="1">
                <a:solidFill>
                  <a:srgbClr val="FFFFFF"/>
                </a:solidFill>
                <a:latin typeface="Segoe UI"/>
              </a:defRPr>
            </a:pPr>
            <a:r>
              <a:t>Responsible Consumption &amp; Production</a:t>
            </a:r>
          </a:p>
          <a:p>
            <a:pPr>
              <a:defRPr sz="900">
                <a:solidFill>
                  <a:srgbClr val="CBD5E1"/>
                </a:solidFill>
                <a:latin typeface="Segoe UI"/>
              </a:defRPr>
            </a:pPr>
            <a:r>
              <a:t>•  Replaces physical filing and paper duplication with high-speed digital indexing.</a:t>
            </a:r>
          </a:p>
          <a:p>
            <a:pPr>
              <a:defRPr sz="900">
                <a:solidFill>
                  <a:srgbClr val="CBD5E1"/>
                </a:solidFill>
                <a:latin typeface="Segoe UI"/>
              </a:defRPr>
            </a:pPr>
            <a:r>
              <a:t>•  Reduces unnecessary printing waste, duplicate storage overhead, and enforces structured digital retention policies.</a:t>
            </a:r>
          </a:p>
        </p:txBody>
      </p:sp>
      <p:sp>
        <p:nvSpPr>
          <p:cNvPr id="13" name="TextBox 12"/>
          <p:cNvSpPr txBox="1"/>
          <p:nvPr/>
        </p:nvSpPr>
        <p:spPr>
          <a:xfrm>
            <a:off x="960120" y="5605272"/>
            <a:ext cx="10271455" cy="502920"/>
          </a:xfrm>
          <a:prstGeom prst="rect">
            <a:avLst/>
          </a:prstGeom>
          <a:noFill/>
        </p:spPr>
        <p:txBody>
          <a:bodyPr wrap="square" lIns="0" rIns="0" tIns="0" bIns="0">
            <a:spAutoFit/>
          </a:bodyPr>
          <a:lstStyle/>
          <a:p>
            <a:pPr>
              <a:defRPr sz="950" b="1">
                <a:solidFill>
                  <a:srgbClr val="FF7A2E"/>
                </a:solidFill>
                <a:latin typeface="Segoe UI"/>
              </a:defRPr>
            </a:pPr>
            <a:r>
              <a:t>EMPIRICAL EVALUATION</a:t>
            </a:r>
          </a:p>
          <a:p>
            <a:pPr>
              <a:defRPr sz="950">
                <a:solidFill>
                  <a:srgbClr val="FFFFFF"/>
                </a:solidFill>
                <a:latin typeface="Segoe UI"/>
              </a:defRPr>
            </a:pPr>
            <a:r>
              <a:t>Replaces slow manual folder browsing with sub-second TF-IDF search, verified 42/42 hashes with zero false-positives, and eliminates physical paper waste.</a:t>
            </a:r>
          </a:p>
        </p:txBody>
      </p:sp>
      <p:sp>
        <p:nvSpPr>
          <p:cNvPr id="14" name="Rectangle 13"/>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16" name="TextBox 15"/>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17" name="TextBox 16"/>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04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04 / SYSTEM ARCHITECTURE</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End-to-End 6-Stage Processing Pipeline &amp; Modular Layers</a:t>
            </a:r>
          </a:p>
          <a:p>
            <a:pPr>
              <a:defRPr sz="1150">
                <a:solidFill>
                  <a:srgbClr val="94A3B8"/>
                </a:solidFill>
                <a:latin typeface="Segoe UI"/>
              </a:defRPr>
            </a:pPr>
            <a:r>
              <a:t>A decoupled 5-tier architecture that processes raw files into cryptographically secured, searchable assets.</a:t>
            </a:r>
          </a:p>
        </p:txBody>
      </p:sp>
      <p:sp>
        <p:nvSpPr>
          <p:cNvPr id="6" name="Rounded Rectangle 5"/>
          <p:cNvSpPr/>
          <p:nvPr/>
        </p:nvSpPr>
        <p:spPr>
          <a:xfrm>
            <a:off x="731520" y="1691640"/>
            <a:ext cx="10728655" cy="214884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801368"/>
            <a:ext cx="1568653" cy="1929384"/>
          </a:xfrm>
          <a:prstGeom prst="rect">
            <a:avLst/>
          </a:prstGeom>
          <a:noFill/>
        </p:spPr>
        <p:txBody>
          <a:bodyPr wrap="square">
            <a:spAutoFit/>
          </a:bodyPr>
          <a:lstStyle/>
          <a:p>
            <a:pPr>
              <a:defRPr sz="850" b="1">
                <a:solidFill>
                  <a:srgbClr val="FF7A2E"/>
                </a:solidFill>
                <a:latin typeface="Segoe UI"/>
              </a:defRPr>
            </a:pPr>
            <a:r>
              <a:t>01  INGEST</a:t>
            </a:r>
          </a:p>
          <a:p>
            <a:pPr>
              <a:defRPr sz="1100" b="1">
                <a:solidFill>
                  <a:srgbClr val="FFFFFF"/>
                </a:solidFill>
                <a:latin typeface="Segoe UI"/>
              </a:defRPr>
            </a:pPr>
            <a:r>
              <a:t>Upload / Import</a:t>
            </a:r>
          </a:p>
          <a:p>
            <a:pPr>
              <a:defRPr sz="850">
                <a:solidFill>
                  <a:srgbClr val="CBD5E1"/>
                </a:solidFill>
                <a:latin typeface="Segoe UI"/>
              </a:defRPr>
            </a:pPr>
            <a:r>
              <a:t>Drag &amp; drop or directory watcher receives multi-format files (PDF, XML, TXT).</a:t>
            </a:r>
          </a:p>
        </p:txBody>
      </p:sp>
      <p:sp>
        <p:nvSpPr>
          <p:cNvPr id="8" name="Rectangle 7"/>
          <p:cNvSpPr/>
          <p:nvPr/>
        </p:nvSpPr>
        <p:spPr>
          <a:xfrm>
            <a:off x="2519629" y="1691640"/>
            <a:ext cx="13716" cy="21488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29357" y="1801368"/>
            <a:ext cx="1568653" cy="1929384"/>
          </a:xfrm>
          <a:prstGeom prst="rect">
            <a:avLst/>
          </a:prstGeom>
          <a:noFill/>
        </p:spPr>
        <p:txBody>
          <a:bodyPr wrap="square">
            <a:spAutoFit/>
          </a:bodyPr>
          <a:lstStyle/>
          <a:p>
            <a:pPr>
              <a:defRPr sz="850" b="1">
                <a:solidFill>
                  <a:srgbClr val="FF7A2E"/>
                </a:solidFill>
                <a:latin typeface="Segoe UI"/>
              </a:defRPr>
            </a:pPr>
            <a:r>
              <a:t>02  VALIDATE</a:t>
            </a:r>
          </a:p>
          <a:p>
            <a:pPr>
              <a:defRPr sz="1100" b="1">
                <a:solidFill>
                  <a:srgbClr val="FFFFFF"/>
                </a:solidFill>
                <a:latin typeface="Segoe UI"/>
              </a:defRPr>
            </a:pPr>
            <a:r>
              <a:t>Magic-Bytes</a:t>
            </a:r>
          </a:p>
          <a:p>
            <a:pPr>
              <a:defRPr sz="850">
                <a:solidFill>
                  <a:srgbClr val="CBD5E1"/>
                </a:solidFill>
                <a:latin typeface="Segoe UI"/>
              </a:defRPr>
            </a:pPr>
            <a:r>
              <a:t>Header signatures inspect binary bytes, rejecting extension-spoofed malicious files.</a:t>
            </a:r>
          </a:p>
        </p:txBody>
      </p:sp>
      <p:sp>
        <p:nvSpPr>
          <p:cNvPr id="10" name="Rectangle 9"/>
          <p:cNvSpPr/>
          <p:nvPr/>
        </p:nvSpPr>
        <p:spPr>
          <a:xfrm>
            <a:off x="4307738" y="1691640"/>
            <a:ext cx="13716" cy="21488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17466" y="1801368"/>
            <a:ext cx="1568653" cy="1929384"/>
          </a:xfrm>
          <a:prstGeom prst="rect">
            <a:avLst/>
          </a:prstGeom>
          <a:noFill/>
        </p:spPr>
        <p:txBody>
          <a:bodyPr wrap="square">
            <a:spAutoFit/>
          </a:bodyPr>
          <a:lstStyle/>
          <a:p>
            <a:pPr>
              <a:defRPr sz="850" b="1">
                <a:solidFill>
                  <a:srgbClr val="FF7A2E"/>
                </a:solidFill>
                <a:latin typeface="Segoe UI"/>
              </a:defRPr>
            </a:pPr>
            <a:r>
              <a:t>03  HASH</a:t>
            </a:r>
          </a:p>
          <a:p>
            <a:pPr>
              <a:defRPr sz="1100" b="1">
                <a:solidFill>
                  <a:srgbClr val="FFFFFF"/>
                </a:solidFill>
                <a:latin typeface="Segoe UI"/>
              </a:defRPr>
            </a:pPr>
            <a:r>
              <a:t>SHA-256 Digest</a:t>
            </a:r>
          </a:p>
          <a:p>
            <a:pPr>
              <a:defRPr sz="850">
                <a:solidFill>
                  <a:srgbClr val="CBD5E1"/>
                </a:solidFill>
                <a:latin typeface="Segoe UI"/>
              </a:defRPr>
            </a:pPr>
            <a:r>
              <a:t>Computes immutable 256-bit cryptographic hash for continuous tamper checking.</a:t>
            </a:r>
          </a:p>
        </p:txBody>
      </p:sp>
      <p:sp>
        <p:nvSpPr>
          <p:cNvPr id="12" name="Rectangle 11"/>
          <p:cNvSpPr/>
          <p:nvPr/>
        </p:nvSpPr>
        <p:spPr>
          <a:xfrm>
            <a:off x="6095847" y="1691640"/>
            <a:ext cx="13716" cy="21488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05575" y="1801368"/>
            <a:ext cx="1568653" cy="1929384"/>
          </a:xfrm>
          <a:prstGeom prst="rect">
            <a:avLst/>
          </a:prstGeom>
          <a:noFill/>
        </p:spPr>
        <p:txBody>
          <a:bodyPr wrap="square">
            <a:spAutoFit/>
          </a:bodyPr>
          <a:lstStyle/>
          <a:p>
            <a:pPr>
              <a:defRPr sz="850" b="1">
                <a:solidFill>
                  <a:srgbClr val="FF7A2E"/>
                </a:solidFill>
                <a:latin typeface="Segoe UI"/>
              </a:defRPr>
            </a:pPr>
            <a:r>
              <a:t>04  EXTRACT</a:t>
            </a:r>
          </a:p>
          <a:p>
            <a:pPr>
              <a:defRPr sz="1100" b="1">
                <a:solidFill>
                  <a:srgbClr val="FFFFFF"/>
                </a:solidFill>
                <a:latin typeface="Segoe UI"/>
              </a:defRPr>
            </a:pPr>
            <a:r>
              <a:t>PyMuPDF Parse</a:t>
            </a:r>
          </a:p>
          <a:p>
            <a:pPr>
              <a:defRPr sz="850">
                <a:solidFill>
                  <a:srgbClr val="CBD5E1"/>
                </a:solidFill>
                <a:latin typeface="Segoe UI"/>
              </a:defRPr>
            </a:pPr>
            <a:r>
              <a:t>Extracts structured text streams; classifies into Legal, Medical, Finance, Academic.</a:t>
            </a:r>
          </a:p>
        </p:txBody>
      </p:sp>
      <p:sp>
        <p:nvSpPr>
          <p:cNvPr id="14" name="Rectangle 13"/>
          <p:cNvSpPr/>
          <p:nvPr/>
        </p:nvSpPr>
        <p:spPr>
          <a:xfrm>
            <a:off x="7883956" y="1691640"/>
            <a:ext cx="13716" cy="21488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93684" y="1801368"/>
            <a:ext cx="1568653" cy="1929384"/>
          </a:xfrm>
          <a:prstGeom prst="rect">
            <a:avLst/>
          </a:prstGeom>
          <a:noFill/>
        </p:spPr>
        <p:txBody>
          <a:bodyPr wrap="square">
            <a:spAutoFit/>
          </a:bodyPr>
          <a:lstStyle/>
          <a:p>
            <a:pPr>
              <a:defRPr sz="850" b="1">
                <a:solidFill>
                  <a:srgbClr val="FF7A2E"/>
                </a:solidFill>
                <a:latin typeface="Segoe UI"/>
              </a:defRPr>
            </a:pPr>
            <a:r>
              <a:t>05  INDEX</a:t>
            </a:r>
          </a:p>
          <a:p>
            <a:pPr>
              <a:defRPr sz="1100" b="1">
                <a:solidFill>
                  <a:srgbClr val="FFFFFF"/>
                </a:solidFill>
                <a:latin typeface="Segoe UI"/>
              </a:defRPr>
            </a:pPr>
            <a:r>
              <a:t>Vector Index</a:t>
            </a:r>
          </a:p>
          <a:p>
            <a:pPr>
              <a:defRPr sz="850">
                <a:solidFill>
                  <a:srgbClr val="CBD5E1"/>
                </a:solidFill>
                <a:latin typeface="Segoe UI"/>
              </a:defRPr>
            </a:pPr>
            <a:r>
              <a:t>Constructs TF-IDF term-document matrices and inverted indices via NumPy.</a:t>
            </a:r>
          </a:p>
        </p:txBody>
      </p:sp>
      <p:sp>
        <p:nvSpPr>
          <p:cNvPr id="16" name="Rectangle 15"/>
          <p:cNvSpPr/>
          <p:nvPr/>
        </p:nvSpPr>
        <p:spPr>
          <a:xfrm>
            <a:off x="9672065" y="1691640"/>
            <a:ext cx="13716" cy="21488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1793" y="1801368"/>
            <a:ext cx="1568653" cy="1929384"/>
          </a:xfrm>
          <a:prstGeom prst="rect">
            <a:avLst/>
          </a:prstGeom>
          <a:noFill/>
        </p:spPr>
        <p:txBody>
          <a:bodyPr wrap="square">
            <a:spAutoFit/>
          </a:bodyPr>
          <a:lstStyle/>
          <a:p>
            <a:pPr>
              <a:defRPr sz="850" b="1">
                <a:solidFill>
                  <a:srgbClr val="FF7A2E"/>
                </a:solidFill>
                <a:latin typeface="Segoe UI"/>
              </a:defRPr>
            </a:pPr>
            <a:r>
              <a:t>06  RETRIEVE</a:t>
            </a:r>
          </a:p>
          <a:p>
            <a:pPr>
              <a:defRPr sz="1100" b="1">
                <a:solidFill>
                  <a:srgbClr val="FFFFFF"/>
                </a:solidFill>
                <a:latin typeface="Segoe UI"/>
              </a:defRPr>
            </a:pPr>
            <a:r>
              <a:t>Query &amp; Audit</a:t>
            </a:r>
          </a:p>
          <a:p>
            <a:pPr>
              <a:defRPr sz="850">
                <a:solidFill>
                  <a:srgbClr val="CBD5E1"/>
                </a:solidFill>
                <a:latin typeface="Segoe UI"/>
              </a:defRPr>
            </a:pPr>
            <a:r>
              <a:t>Ranks queries via cosine similarity, flags duplicates, logs audit trail.</a:t>
            </a:r>
          </a:p>
        </p:txBody>
      </p:sp>
      <p:sp>
        <p:nvSpPr>
          <p:cNvPr id="18" name="Rounded Rectangle 17"/>
          <p:cNvSpPr/>
          <p:nvPr/>
        </p:nvSpPr>
        <p:spPr>
          <a:xfrm>
            <a:off x="731520" y="3977639"/>
            <a:ext cx="10728655" cy="219456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50791"/>
            <a:ext cx="10362895" cy="274320"/>
          </a:xfrm>
          <a:prstGeom prst="rect">
            <a:avLst/>
          </a:prstGeom>
          <a:noFill/>
        </p:spPr>
        <p:txBody>
          <a:bodyPr wrap="none">
            <a:spAutoFit/>
          </a:bodyPr>
          <a:lstStyle/>
          <a:p>
            <a:pPr>
              <a:defRPr sz="950" b="1">
                <a:solidFill>
                  <a:srgbClr val="FF7A2E"/>
                </a:solidFill>
                <a:latin typeface="Segoe UI"/>
              </a:defRPr>
            </a:pPr>
            <a:r>
              <a:t>5-TIER MODULAR DECOUPLED ARCHITECTURE</a:t>
            </a:r>
          </a:p>
        </p:txBody>
      </p:sp>
      <p:sp>
        <p:nvSpPr>
          <p:cNvPr id="20" name="Rectangle 19"/>
          <p:cNvSpPr/>
          <p:nvPr/>
        </p:nvSpPr>
        <p:spPr>
          <a:xfrm>
            <a:off x="731520" y="4361687"/>
            <a:ext cx="10728655" cy="13716"/>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4434839"/>
            <a:ext cx="1926275" cy="1645920"/>
          </a:xfrm>
          <a:prstGeom prst="rect">
            <a:avLst/>
          </a:prstGeom>
          <a:noFill/>
        </p:spPr>
        <p:txBody>
          <a:bodyPr wrap="square">
            <a:spAutoFit/>
          </a:bodyPr>
          <a:lstStyle/>
          <a:p>
            <a:pPr>
              <a:defRPr sz="1000" b="1">
                <a:solidFill>
                  <a:srgbClr val="FFFFFF"/>
                </a:solidFill>
                <a:latin typeface="Segoe UI"/>
              </a:defRPr>
            </a:pPr>
            <a:r>
              <a:t>Tier 1: Presentation Layer</a:t>
            </a:r>
          </a:p>
          <a:p>
            <a:pPr>
              <a:defRPr sz="850">
                <a:solidFill>
                  <a:srgbClr val="CBD5E1"/>
                </a:solidFill>
                <a:latin typeface="Segoe UI"/>
              </a:defRPr>
            </a:pPr>
            <a:r>
              <a:t>PyQt6 GPU-accelerated desktop UI + Streamlit interactive analytics dashboard with Plotly charts.</a:t>
            </a:r>
          </a:p>
        </p:txBody>
      </p:sp>
      <p:sp>
        <p:nvSpPr>
          <p:cNvPr id="22" name="Rectangle 21"/>
          <p:cNvSpPr/>
          <p:nvPr/>
        </p:nvSpPr>
        <p:spPr>
          <a:xfrm>
            <a:off x="2877251" y="4361687"/>
            <a:ext cx="13716" cy="1810512"/>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86979" y="4434839"/>
            <a:ext cx="1926275" cy="1645920"/>
          </a:xfrm>
          <a:prstGeom prst="rect">
            <a:avLst/>
          </a:prstGeom>
          <a:noFill/>
        </p:spPr>
        <p:txBody>
          <a:bodyPr wrap="square">
            <a:spAutoFit/>
          </a:bodyPr>
          <a:lstStyle/>
          <a:p>
            <a:pPr>
              <a:defRPr sz="1000" b="1">
                <a:solidFill>
                  <a:srgbClr val="FFFFFF"/>
                </a:solidFill>
                <a:latin typeface="Segoe UI"/>
              </a:defRPr>
            </a:pPr>
            <a:r>
              <a:t>Tier 2: Application &amp; REST</a:t>
            </a:r>
          </a:p>
          <a:p>
            <a:pPr>
              <a:defRPr sz="850">
                <a:solidFill>
                  <a:srgbClr val="CBD5E1"/>
                </a:solidFill>
                <a:latin typeface="Segoe UI"/>
              </a:defRPr>
            </a:pPr>
            <a:r>
              <a:t>Flask RESTful micro-endpoints, CORS handling, multi-route request dispatching.</a:t>
            </a:r>
          </a:p>
        </p:txBody>
      </p:sp>
      <p:sp>
        <p:nvSpPr>
          <p:cNvPr id="24" name="Rectangle 23"/>
          <p:cNvSpPr/>
          <p:nvPr/>
        </p:nvSpPr>
        <p:spPr>
          <a:xfrm>
            <a:off x="5022982" y="4361687"/>
            <a:ext cx="13716" cy="1810512"/>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32710" y="4434839"/>
            <a:ext cx="1926275" cy="1645920"/>
          </a:xfrm>
          <a:prstGeom prst="rect">
            <a:avLst/>
          </a:prstGeom>
          <a:noFill/>
        </p:spPr>
        <p:txBody>
          <a:bodyPr wrap="square">
            <a:spAutoFit/>
          </a:bodyPr>
          <a:lstStyle/>
          <a:p>
            <a:pPr>
              <a:defRPr sz="1000" b="1">
                <a:solidFill>
                  <a:srgbClr val="FFFFFF"/>
                </a:solidFill>
                <a:latin typeface="Segoe UI"/>
              </a:defRPr>
            </a:pPr>
            <a:r>
              <a:t>Tier 3: Identity &amp; Access</a:t>
            </a:r>
          </a:p>
          <a:p>
            <a:pPr>
              <a:defRPr sz="850">
                <a:solidFill>
                  <a:srgbClr val="CBD5E1"/>
                </a:solidFill>
                <a:latin typeface="Segoe UI"/>
              </a:defRPr>
            </a:pPr>
            <a:r>
              <a:t>SessionManager, PBKDF2 credential hashing, user workspace isolation.</a:t>
            </a:r>
          </a:p>
        </p:txBody>
      </p:sp>
      <p:sp>
        <p:nvSpPr>
          <p:cNvPr id="26" name="Rectangle 25"/>
          <p:cNvSpPr/>
          <p:nvPr/>
        </p:nvSpPr>
        <p:spPr>
          <a:xfrm>
            <a:off x="7168713" y="4361687"/>
            <a:ext cx="13716" cy="1810512"/>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78441" y="4434839"/>
            <a:ext cx="1926275" cy="1645920"/>
          </a:xfrm>
          <a:prstGeom prst="rect">
            <a:avLst/>
          </a:prstGeom>
          <a:noFill/>
        </p:spPr>
        <p:txBody>
          <a:bodyPr wrap="square">
            <a:spAutoFit/>
          </a:bodyPr>
          <a:lstStyle/>
          <a:p>
            <a:pPr>
              <a:defRPr sz="1000" b="1">
                <a:solidFill>
                  <a:srgbClr val="FFFFFF"/>
                </a:solidFill>
                <a:latin typeface="Segoe UI"/>
              </a:defRPr>
            </a:pPr>
            <a:r>
              <a:t>Tier 4: Document Intelligence</a:t>
            </a:r>
          </a:p>
          <a:p>
            <a:pPr>
              <a:defRPr sz="850">
                <a:solidFill>
                  <a:srgbClr val="CBD5E1"/>
                </a:solidFill>
                <a:latin typeface="Segoe UI"/>
              </a:defRPr>
            </a:pPr>
            <a:r>
              <a:t>PyMuPDF parser, NumPy TF-IDF matrix builder, difflib near-duplicate engine.</a:t>
            </a:r>
          </a:p>
        </p:txBody>
      </p:sp>
      <p:sp>
        <p:nvSpPr>
          <p:cNvPr id="28" name="Rectangle 27"/>
          <p:cNvSpPr/>
          <p:nvPr/>
        </p:nvSpPr>
        <p:spPr>
          <a:xfrm>
            <a:off x="9314444" y="4361687"/>
            <a:ext cx="13716" cy="1810512"/>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24172" y="4434839"/>
            <a:ext cx="1926275" cy="1645920"/>
          </a:xfrm>
          <a:prstGeom prst="rect">
            <a:avLst/>
          </a:prstGeom>
          <a:noFill/>
        </p:spPr>
        <p:txBody>
          <a:bodyPr wrap="square">
            <a:spAutoFit/>
          </a:bodyPr>
          <a:lstStyle/>
          <a:p>
            <a:pPr>
              <a:defRPr sz="1000" b="1">
                <a:solidFill>
                  <a:srgbClr val="FFFFFF"/>
                </a:solidFill>
                <a:latin typeface="Segoe UI"/>
              </a:defRPr>
            </a:pPr>
            <a:r>
              <a:t>Tier 5: Persistence &amp; Vault</a:t>
            </a:r>
          </a:p>
          <a:p>
            <a:pPr>
              <a:defRPr sz="850">
                <a:solidFill>
                  <a:srgbClr val="CBD5E1"/>
                </a:solidFill>
                <a:latin typeface="Segoe UI"/>
              </a:defRPr>
            </a:pPr>
            <a:r>
              <a:t>MongoDB document catalogue, SQLite3 authentication records, encrypted storage vault.</a:t>
            </a:r>
          </a:p>
        </p:txBody>
      </p:sp>
      <p:sp>
        <p:nvSpPr>
          <p:cNvPr id="30" name="Rectangle 29"/>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32" name="TextBox 31"/>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33" name="TextBox 32"/>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05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05 / TECHNICAL IMPLEMENTATION</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Full-Stack Python Libraries &amp; Curriculum Unit Mapping</a:t>
            </a:r>
          </a:p>
          <a:p>
            <a:pPr>
              <a:defRPr sz="1150">
                <a:solidFill>
                  <a:srgbClr val="94A3B8"/>
                </a:solidFill>
                <a:latin typeface="Segoe UI"/>
              </a:defRPr>
            </a:pPr>
            <a:r>
              <a:t>Rigorous application of Advanced Python principles across graphical, API, scientific, and data layers.</a:t>
            </a:r>
          </a:p>
        </p:txBody>
      </p:sp>
      <p:sp>
        <p:nvSpPr>
          <p:cNvPr id="6" name="Rounded Rectangle 5"/>
          <p:cNvSpPr/>
          <p:nvPr/>
        </p:nvSpPr>
        <p:spPr>
          <a:xfrm>
            <a:off x="731520" y="1691640"/>
            <a:ext cx="10728655" cy="448056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52160" y="1691640"/>
            <a:ext cx="13716" cy="448056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28800"/>
            <a:ext cx="4709160" cy="4206240"/>
          </a:xfrm>
          <a:prstGeom prst="rect">
            <a:avLst/>
          </a:prstGeom>
          <a:noFill/>
        </p:spPr>
        <p:txBody>
          <a:bodyPr wrap="square" lIns="0" rIns="0" tIns="0" bIns="0">
            <a:spAutoFit/>
          </a:bodyPr>
          <a:lstStyle/>
          <a:p>
            <a:pPr>
              <a:defRPr sz="1100" b="1">
                <a:solidFill>
                  <a:srgbClr val="FF7A2E"/>
                </a:solidFill>
                <a:latin typeface="Segoe UI"/>
              </a:defRPr>
            </a:pPr>
            <a:r>
              <a:t>CORE PRODUCTION LIBRARIES &amp; TOOLS</a:t>
            </a:r>
          </a:p>
          <a:p>
            <a:pPr>
              <a:defRPr sz="900">
                <a:solidFill>
                  <a:srgbClr val="CBD5E1"/>
                </a:solidFill>
                <a:latin typeface="Segoe UI"/>
              </a:defRPr>
            </a:pPr>
            <a:r>
              <a:t>•  Python 3.12+: Core runtime language driving the entire decoupled application stack.</a:t>
            </a:r>
          </a:p>
          <a:p>
            <a:pPr>
              <a:defRPr sz="900">
                <a:solidFill>
                  <a:srgbClr val="CBD5E1"/>
                </a:solidFill>
                <a:latin typeface="Segoe UI"/>
              </a:defRPr>
            </a:pPr>
            <a:r>
              <a:t>•  PyQt6: Rich desktop interface, customizable QSS dark stylesheet, reactive event loop.</a:t>
            </a:r>
          </a:p>
          <a:p>
            <a:pPr>
              <a:defRPr sz="900">
                <a:solidFill>
                  <a:srgbClr val="CBD5E1"/>
                </a:solidFill>
                <a:latin typeface="Segoe UI"/>
              </a:defRPr>
            </a:pPr>
            <a:r>
              <a:t>•  Flask &amp; Flask-CORS: REST API layer connecting desktop client with backend services.</a:t>
            </a:r>
          </a:p>
          <a:p>
            <a:pPr>
              <a:defRPr sz="900">
                <a:solidFill>
                  <a:srgbClr val="CBD5E1"/>
                </a:solidFill>
                <a:latin typeface="Segoe UI"/>
              </a:defRPr>
            </a:pPr>
            <a:r>
              <a:t>•  Streamlit &amp; Plotly: Interactive browser web hub rendering real-time storage doughnut charts.</a:t>
            </a:r>
          </a:p>
          <a:p>
            <a:pPr>
              <a:defRPr sz="900">
                <a:solidFill>
                  <a:srgbClr val="CBD5E1"/>
                </a:solidFill>
                <a:latin typeface="Segoe UI"/>
              </a:defRPr>
            </a:pPr>
            <a:r>
              <a:t>•  NumPy: High-performance vector operations, TF-IDF calculation, cosine similarity.</a:t>
            </a:r>
          </a:p>
          <a:p>
            <a:pPr>
              <a:defRPr sz="900">
                <a:solidFill>
                  <a:srgbClr val="CBD5E1"/>
                </a:solidFill>
                <a:latin typeface="Segoe UI"/>
              </a:defRPr>
            </a:pPr>
            <a:r>
              <a:t>•  Pandas: Document catalogue tabular structures and audit trail CSV export handling.</a:t>
            </a:r>
          </a:p>
          <a:p>
            <a:pPr>
              <a:defRPr sz="900">
                <a:solidFill>
                  <a:srgbClr val="CBD5E1"/>
                </a:solidFill>
                <a:latin typeface="Segoe UI"/>
              </a:defRPr>
            </a:pPr>
            <a:r>
              <a:t>•  PyMuPDF (fitz): High-speed text extraction from multi-page PDFs, layout and clause parsing.</a:t>
            </a:r>
          </a:p>
          <a:p>
            <a:pPr>
              <a:defRPr sz="900">
                <a:solidFill>
                  <a:srgbClr val="CBD5E1"/>
                </a:solidFill>
                <a:latin typeface="Segoe UI"/>
              </a:defRPr>
            </a:pPr>
            <a:r>
              <a:t>•  hashlib &amp; hmac: SHA-256 cryptographic fingerprints and PBKDF2 password security.</a:t>
            </a:r>
          </a:p>
          <a:p>
            <a:pPr>
              <a:defRPr sz="900">
                <a:solidFill>
                  <a:srgbClr val="CBD5E1"/>
                </a:solidFill>
                <a:latin typeface="Segoe UI"/>
              </a:defRPr>
            </a:pPr>
            <a:r>
              <a:t>•  SQLite3 &amp; PyMongo: Hybrid database backend: relational session auth + NoSQL document store.</a:t>
            </a:r>
          </a:p>
        </p:txBody>
      </p:sp>
      <p:sp>
        <p:nvSpPr>
          <p:cNvPr id="9" name="TextBox 8"/>
          <p:cNvSpPr txBox="1"/>
          <p:nvPr/>
        </p:nvSpPr>
        <p:spPr>
          <a:xfrm>
            <a:off x="6126480" y="1828800"/>
            <a:ext cx="5029200" cy="4206240"/>
          </a:xfrm>
          <a:prstGeom prst="rect">
            <a:avLst/>
          </a:prstGeom>
          <a:noFill/>
        </p:spPr>
        <p:txBody>
          <a:bodyPr wrap="square" lIns="0" rIns="0" tIns="0" bIns="0">
            <a:spAutoFit/>
          </a:bodyPr>
          <a:lstStyle/>
          <a:p>
            <a:pPr>
              <a:defRPr sz="1100" b="1">
                <a:solidFill>
                  <a:srgbClr val="FF7A2E"/>
                </a:solidFill>
                <a:latin typeface="Segoe UI"/>
              </a:defRPr>
            </a:pPr>
            <a:r>
              <a:t>ADVANCED PYTHON CURRICULUM MAPPING</a:t>
            </a:r>
          </a:p>
          <a:p>
            <a:pPr>
              <a:defRPr sz="1000" b="1">
                <a:solidFill>
                  <a:srgbClr val="FFFFFF"/>
                </a:solidFill>
                <a:latin typeface="Segoe UI"/>
              </a:defRPr>
            </a:pPr>
            <a:r>
              <a:t>✓ Unit 1: OOP, ABCs &amp; GUI Architecture</a:t>
            </a:r>
          </a:p>
          <a:p>
            <a:pPr>
              <a:defRPr sz="880">
                <a:solidFill>
                  <a:srgbClr val="CBD5E1"/>
                </a:solidFill>
                <a:latin typeface="Segoe UI"/>
              </a:defRPr>
            </a:pPr>
            <a:r>
              <a:t>Abstract Base Class 'BaseDocument' with polymorphic subclasses (Legal, Medical, Financial), custom exceptions, regex entity matching, and PyQt6 desktop interface.</a:t>
            </a:r>
          </a:p>
          <a:p>
            <a:pPr>
              <a:defRPr sz="1000" b="1">
                <a:solidFill>
                  <a:srgbClr val="FFFFFF"/>
                </a:solidFill>
                <a:latin typeface="Segoe UI"/>
              </a:defRPr>
            </a:pPr>
            <a:r>
              <a:t>✓ Unit 2: APIs, Authentication &amp; Web Services</a:t>
            </a:r>
          </a:p>
          <a:p>
            <a:pPr>
              <a:defRPr sz="880">
                <a:solidFill>
                  <a:srgbClr val="CBD5E1"/>
                </a:solidFill>
                <a:latin typeface="Segoe UI"/>
              </a:defRPr>
            </a:pPr>
            <a:r>
              <a:t>Secure REST endpoints, PBKDF2 salted password hashing, user session management, and external Nager.Date Public Holiday API integration.</a:t>
            </a:r>
          </a:p>
          <a:p>
            <a:pPr>
              <a:defRPr sz="1000" b="1">
                <a:solidFill>
                  <a:srgbClr val="FFFFFF"/>
                </a:solidFill>
                <a:latin typeface="Segoe UI"/>
              </a:defRPr>
            </a:pPr>
            <a:r>
              <a:t>✓ Unit 3: Flask &amp; Streamlit Multi-Frameworks</a:t>
            </a:r>
          </a:p>
          <a:p>
            <a:pPr>
              <a:defRPr sz="880">
                <a:solidFill>
                  <a:srgbClr val="CBD5E1"/>
                </a:solidFill>
                <a:latin typeface="Segoe UI"/>
              </a:defRPr>
            </a:pPr>
            <a:r>
              <a:t>Decoupled backend service architecture with Flask API endpoints and an interactive Streamlit data dashboard with real-time Plotly visualization.</a:t>
            </a:r>
          </a:p>
          <a:p>
            <a:pPr>
              <a:defRPr sz="1000" b="1">
                <a:solidFill>
                  <a:srgbClr val="FFFFFF"/>
                </a:solidFill>
                <a:latin typeface="Segoe UI"/>
              </a:defRPr>
            </a:pPr>
            <a:r>
              <a:t>✓ Unit 4: Binary Files, Signatures &amp; Pandas</a:t>
            </a:r>
          </a:p>
          <a:p>
            <a:pPr>
              <a:defRPr sz="880">
                <a:solidFill>
                  <a:srgbClr val="CBD5E1"/>
                </a:solidFill>
                <a:latin typeface="Segoe UI"/>
              </a:defRPr>
            </a:pPr>
            <a:r>
              <a:t>Deep magic-byte inspection (checking file headers vs extensions), streaming PDF extraction, SHA-256 cryptographic digests, and Pandas document catalogues.</a:t>
            </a:r>
          </a:p>
          <a:p>
            <a:pPr>
              <a:defRPr sz="1000" b="1">
                <a:solidFill>
                  <a:srgbClr val="FFFFFF"/>
                </a:solidFill>
                <a:latin typeface="Segoe UI"/>
              </a:defRPr>
            </a:pPr>
            <a:r>
              <a:t>✓ Unit 5: NumPy, Vector Algebra &amp; Retrieval</a:t>
            </a:r>
          </a:p>
          <a:p>
            <a:pPr>
              <a:defRPr sz="880">
                <a:solidFill>
                  <a:srgbClr val="CBD5E1"/>
                </a:solidFill>
                <a:latin typeface="Segoe UI"/>
              </a:defRPr>
            </a:pPr>
            <a:r>
              <a:t>Sparse TF-IDF matrix construction from scratch, cosine similarity query ranking, Boolean array masking, and difflib near-duplicate matching.</a:t>
            </a:r>
          </a:p>
        </p:txBody>
      </p:sp>
      <p:sp>
        <p:nvSpPr>
          <p:cNvPr id="10" name="Rectangle 9"/>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12" name="TextBox 11"/>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13" name="TextBox 12"/>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06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06 / SYSTEM CAPABILITIES</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Core Feature Highlights &amp; Security Safeguards</a:t>
            </a:r>
          </a:p>
          <a:p>
            <a:pPr>
              <a:defRPr sz="1150">
                <a:solidFill>
                  <a:srgbClr val="94A3B8"/>
                </a:solidFill>
                <a:latin typeface="Segoe UI"/>
              </a:defRPr>
            </a:pPr>
            <a:r>
              <a:t>A multi-layered defense and intelligence framework protecting institutional knowledge.</a:t>
            </a:r>
          </a:p>
        </p:txBody>
      </p:sp>
      <p:sp>
        <p:nvSpPr>
          <p:cNvPr id="6" name="Rounded Rectangle 5"/>
          <p:cNvSpPr/>
          <p:nvPr/>
        </p:nvSpPr>
        <p:spPr>
          <a:xfrm>
            <a:off x="731520" y="1691640"/>
            <a:ext cx="10728655" cy="448056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847" y="1691640"/>
            <a:ext cx="13716" cy="448056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931920"/>
            <a:ext cx="10728655" cy="13716"/>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28800"/>
            <a:ext cx="4861407" cy="2011680"/>
          </a:xfrm>
          <a:prstGeom prst="rect">
            <a:avLst/>
          </a:prstGeom>
          <a:noFill/>
        </p:spPr>
        <p:txBody>
          <a:bodyPr wrap="square" lIns="0" rIns="0" tIns="0" bIns="0">
            <a:spAutoFit/>
          </a:bodyPr>
          <a:lstStyle/>
          <a:p>
            <a:pPr>
              <a:defRPr sz="1200" b="1">
                <a:solidFill>
                  <a:srgbClr val="FF7A2E"/>
                </a:solidFill>
                <a:latin typeface="Segoe UI"/>
              </a:defRPr>
            </a:pPr>
            <a:r>
              <a:t>01 / Cryptographic Verification &amp; Tamper Defense</a:t>
            </a:r>
          </a:p>
          <a:p>
            <a:pPr>
              <a:defRPr sz="950">
                <a:solidFill>
                  <a:srgbClr val="CBD5E1"/>
                </a:solidFill>
                <a:latin typeface="Segoe UI"/>
              </a:defRPr>
            </a:pPr>
            <a:r>
              <a:t>•  Magic-byte inspection validates file format from header signatures, rejecting disguised malware payloads.</a:t>
            </a:r>
          </a:p>
          <a:p>
            <a:pPr>
              <a:defRPr sz="950">
                <a:solidFill>
                  <a:srgbClr val="CBD5E1"/>
                </a:solidFill>
                <a:latin typeface="Segoe UI"/>
              </a:defRPr>
            </a:pPr>
            <a:r>
              <a:t>•  SHA-256 cryptographic hashes detect any subsequent byte-level alteration or accidental bit-rot.</a:t>
            </a:r>
          </a:p>
          <a:p>
            <a:pPr>
              <a:defRPr sz="950">
                <a:solidFill>
                  <a:srgbClr val="CBD5E1"/>
                </a:solidFill>
                <a:latin typeface="Segoe UI"/>
              </a:defRPr>
            </a:pPr>
            <a:r>
              <a:t>•  Automated quarantine center isolates corrupted files immediately, preserving system integrity.</a:t>
            </a:r>
          </a:p>
        </p:txBody>
      </p:sp>
      <p:sp>
        <p:nvSpPr>
          <p:cNvPr id="10" name="TextBox 9"/>
          <p:cNvSpPr txBox="1"/>
          <p:nvPr/>
        </p:nvSpPr>
        <p:spPr>
          <a:xfrm>
            <a:off x="6370167" y="1828800"/>
            <a:ext cx="4861407" cy="2011680"/>
          </a:xfrm>
          <a:prstGeom prst="rect">
            <a:avLst/>
          </a:prstGeom>
          <a:noFill/>
        </p:spPr>
        <p:txBody>
          <a:bodyPr wrap="square" lIns="0" rIns="0" tIns="0" bIns="0">
            <a:spAutoFit/>
          </a:bodyPr>
          <a:lstStyle/>
          <a:p>
            <a:pPr>
              <a:defRPr sz="1200" b="1">
                <a:solidFill>
                  <a:srgbClr val="FF7A2E"/>
                </a:solidFill>
                <a:latin typeface="Segoe UI"/>
              </a:defRPr>
            </a:pPr>
            <a:r>
              <a:t>02 / Source-Grounded AI Search &amp; Attribution</a:t>
            </a:r>
          </a:p>
          <a:p>
            <a:pPr>
              <a:defRPr sz="950">
                <a:solidFill>
                  <a:srgbClr val="CBD5E1"/>
                </a:solidFill>
                <a:latin typeface="Segoe UI"/>
              </a:defRPr>
            </a:pPr>
            <a:r>
              <a:t>•  TF-IDF sparse vector representations enable rapid, completely offline query-document matching.</a:t>
            </a:r>
          </a:p>
          <a:p>
            <a:pPr>
              <a:defRPr sz="950">
                <a:solidFill>
                  <a:srgbClr val="CBD5E1"/>
                </a:solidFill>
                <a:latin typeface="Segoe UI"/>
              </a:defRPr>
            </a:pPr>
            <a:r>
              <a:t>•  Cosine similarity ranking retrieves top relevant passages without cloud latency or subscription fees.</a:t>
            </a:r>
          </a:p>
          <a:p>
            <a:pPr>
              <a:defRPr sz="950">
                <a:solidFill>
                  <a:srgbClr val="CBD5E1"/>
                </a:solidFill>
                <a:latin typeface="Segoe UI"/>
              </a:defRPr>
            </a:pPr>
            <a:r>
              <a:t>•  Every generated answer includes verified citations: exact document title, page number, and clause text.</a:t>
            </a:r>
          </a:p>
        </p:txBody>
      </p:sp>
      <p:sp>
        <p:nvSpPr>
          <p:cNvPr id="11" name="TextBox 10"/>
          <p:cNvSpPr txBox="1"/>
          <p:nvPr/>
        </p:nvSpPr>
        <p:spPr>
          <a:xfrm>
            <a:off x="960120" y="4069080"/>
            <a:ext cx="4861407" cy="2011680"/>
          </a:xfrm>
          <a:prstGeom prst="rect">
            <a:avLst/>
          </a:prstGeom>
          <a:noFill/>
        </p:spPr>
        <p:txBody>
          <a:bodyPr wrap="square" lIns="0" rIns="0" tIns="0" bIns="0">
            <a:spAutoFit/>
          </a:bodyPr>
          <a:lstStyle/>
          <a:p>
            <a:pPr>
              <a:defRPr sz="1200" b="1">
                <a:solidFill>
                  <a:srgbClr val="FF7A2E"/>
                </a:solidFill>
                <a:latin typeface="Segoe UI"/>
              </a:defRPr>
            </a:pPr>
            <a:r>
              <a:t>03 / Smart Deduplication &amp; Version Intelligence</a:t>
            </a:r>
          </a:p>
          <a:p>
            <a:pPr>
              <a:defRPr sz="950">
                <a:solidFill>
                  <a:srgbClr val="CBD5E1"/>
                </a:solidFill>
                <a:latin typeface="Segoe UI"/>
              </a:defRPr>
            </a:pPr>
            <a:r>
              <a:t>•  Zero-overhead exact duplicate detection via instant SHA-256 hash lookup in the document vault.</a:t>
            </a:r>
          </a:p>
          <a:p>
            <a:pPr>
              <a:defRPr sz="950">
                <a:solidFill>
                  <a:srgbClr val="CBD5E1"/>
                </a:solidFill>
                <a:latin typeface="Segoe UI"/>
              </a:defRPr>
            </a:pPr>
            <a:r>
              <a:t>•  Near-duplicate text similarity analysis utilizing Jaccard distance and Python's difflib SequenceMatcher.</a:t>
            </a:r>
          </a:p>
          <a:p>
            <a:pPr>
              <a:defRPr sz="950">
                <a:solidFill>
                  <a:srgbClr val="CBD5E1"/>
                </a:solidFill>
                <a:latin typeface="Segoe UI"/>
              </a:defRPr>
            </a:pPr>
            <a:r>
              <a:t>•  Reclaims storage space and prevents staff from referencing out-of-date document revisions.</a:t>
            </a:r>
          </a:p>
        </p:txBody>
      </p:sp>
      <p:sp>
        <p:nvSpPr>
          <p:cNvPr id="12" name="TextBox 11"/>
          <p:cNvSpPr txBox="1"/>
          <p:nvPr/>
        </p:nvSpPr>
        <p:spPr>
          <a:xfrm>
            <a:off x="6370167" y="4069080"/>
            <a:ext cx="4861407" cy="2011680"/>
          </a:xfrm>
          <a:prstGeom prst="rect">
            <a:avLst/>
          </a:prstGeom>
          <a:noFill/>
        </p:spPr>
        <p:txBody>
          <a:bodyPr wrap="square" lIns="0" rIns="0" tIns="0" bIns="0">
            <a:spAutoFit/>
          </a:bodyPr>
          <a:lstStyle/>
          <a:p>
            <a:pPr>
              <a:defRPr sz="1200" b="1">
                <a:solidFill>
                  <a:srgbClr val="FF7A2E"/>
                </a:solidFill>
                <a:latin typeface="Segoe UI"/>
              </a:defRPr>
            </a:pPr>
            <a:r>
              <a:t>04 / Privacy Governance &amp; Deadline Tracking</a:t>
            </a:r>
          </a:p>
          <a:p>
            <a:pPr>
              <a:defRPr sz="950">
                <a:solidFill>
                  <a:srgbClr val="CBD5E1"/>
                </a:solidFill>
                <a:latin typeface="Segoe UI"/>
              </a:defRPr>
            </a:pPr>
            <a:r>
              <a:t>•  Automated regex redaction engine masks sensitive PII (emails, phone numbers, credit card numbers).</a:t>
            </a:r>
          </a:p>
          <a:p>
            <a:pPr>
              <a:defRPr sz="950">
                <a:solidFill>
                  <a:srgbClr val="CBD5E1"/>
                </a:solidFill>
                <a:latin typeface="Segoe UI"/>
              </a:defRPr>
            </a:pPr>
            <a:r>
              <a:t>•  Business-day deadline shifting engine moves contract milestones past weekends and official holidays.</a:t>
            </a:r>
          </a:p>
          <a:p>
            <a:pPr>
              <a:defRPr sz="950">
                <a:solidFill>
                  <a:srgbClr val="CBD5E1"/>
                </a:solidFill>
                <a:latin typeface="Segoe UI"/>
              </a:defRPr>
            </a:pPr>
            <a:r>
              <a:t>•  Tamper-proof audit logging of every database save, navigation, and export action with CSV download.</a:t>
            </a:r>
          </a:p>
        </p:txBody>
      </p:sp>
      <p:sp>
        <p:nvSpPr>
          <p:cNvPr id="13" name="Rectangle 12"/>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15" name="TextBox 14"/>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16" name="TextBox 15"/>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07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07 / LIVE APPLICATION EVIDENCE</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Document Workspace &amp; Real-Time Storage Tracking</a:t>
            </a:r>
          </a:p>
          <a:p>
            <a:pPr>
              <a:defRPr sz="1150">
                <a:solidFill>
                  <a:srgbClr val="94A3B8"/>
                </a:solidFill>
                <a:latin typeface="Segoe UI"/>
              </a:defRPr>
            </a:pPr>
            <a:r>
              <a:t>High-resolution screenshots captured from the running DocuVault desktop client in dark mode.</a:t>
            </a:r>
          </a:p>
        </p:txBody>
      </p:sp>
      <p:sp>
        <p:nvSpPr>
          <p:cNvPr id="6" name="Rounded Rectangle 5"/>
          <p:cNvSpPr/>
          <p:nvPr/>
        </p:nvSpPr>
        <p:spPr>
          <a:xfrm>
            <a:off x="731520" y="1691640"/>
            <a:ext cx="5257800" cy="3154680"/>
          </a:xfrm>
          <a:prstGeom prst="roundRect">
            <a:avLst/>
          </a:prstGeom>
          <a:solidFill>
            <a:srgbClr val="0C0C11"/>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0664" y="1700784"/>
            <a:ext cx="5239512" cy="310896"/>
          </a:xfrm>
          <a:prstGeom prst="rect">
            <a:avLst/>
          </a:prstGeom>
          <a:solidFill>
            <a:srgbClr val="12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792224"/>
            <a:ext cx="91440" cy="9144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792224"/>
            <a:ext cx="91440" cy="914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2144" y="179222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719072"/>
            <a:ext cx="4572000" cy="310896"/>
          </a:xfrm>
          <a:prstGeom prst="rect">
            <a:avLst/>
          </a:prstGeom>
          <a:noFill/>
        </p:spPr>
        <p:txBody>
          <a:bodyPr wrap="none">
            <a:spAutoFit/>
          </a:bodyPr>
          <a:lstStyle/>
          <a:p>
            <a:pPr>
              <a:defRPr sz="850">
                <a:solidFill>
                  <a:srgbClr val="94A3B8"/>
                </a:solidFill>
                <a:latin typeface="Segoe UI"/>
              </a:defRPr>
            </a:pPr>
            <a:r>
              <a:t>DocuVault — Enterprise Document Management [Documents Workspace &amp; Ingestion]</a:t>
            </a:r>
          </a:p>
        </p:txBody>
      </p:sp>
      <p:pic>
        <p:nvPicPr>
          <p:cNvPr id="12" name="Picture 11" descr="test_vault_dark.png"/>
          <p:cNvPicPr>
            <a:picLocks noChangeAspect="1"/>
          </p:cNvPicPr>
          <p:nvPr/>
        </p:nvPicPr>
        <p:blipFill>
          <a:blip r:embed="rId2"/>
          <a:stretch>
            <a:fillRect/>
          </a:stretch>
        </p:blipFill>
        <p:spPr>
          <a:xfrm>
            <a:off x="749808" y="2020824"/>
            <a:ext cx="5221224" cy="2807208"/>
          </a:xfrm>
          <a:prstGeom prst="rect">
            <a:avLst/>
          </a:prstGeom>
        </p:spPr>
      </p:pic>
      <p:sp>
        <p:nvSpPr>
          <p:cNvPr id="13" name="Rounded Rectangle 12"/>
          <p:cNvSpPr/>
          <p:nvPr/>
        </p:nvSpPr>
        <p:spPr>
          <a:xfrm>
            <a:off x="6199632" y="1691640"/>
            <a:ext cx="5257800" cy="3154680"/>
          </a:xfrm>
          <a:prstGeom prst="roundRect">
            <a:avLst/>
          </a:prstGeom>
          <a:solidFill>
            <a:srgbClr val="0C0C11"/>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700784"/>
            <a:ext cx="5239512" cy="310896"/>
          </a:xfrm>
          <a:prstGeom prst="rect">
            <a:avLst/>
          </a:prstGeom>
          <a:solidFill>
            <a:srgbClr val="12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27648" y="1792224"/>
            <a:ext cx="91440" cy="9144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3952" y="1792224"/>
            <a:ext cx="91440" cy="914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20256" y="179222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3992" y="1719072"/>
            <a:ext cx="4572000" cy="310896"/>
          </a:xfrm>
          <a:prstGeom prst="rect">
            <a:avLst/>
          </a:prstGeom>
          <a:noFill/>
        </p:spPr>
        <p:txBody>
          <a:bodyPr wrap="none">
            <a:spAutoFit/>
          </a:bodyPr>
          <a:lstStyle/>
          <a:p>
            <a:pPr>
              <a:defRPr sz="850">
                <a:solidFill>
                  <a:srgbClr val="94A3B8"/>
                </a:solidFill>
                <a:latin typeface="Segoe UI"/>
              </a:defRPr>
            </a:pPr>
            <a:r>
              <a:t>DocuVault — Storage Vault &amp; Encrypted Backup Analytics [Doughnut Breakdown]</a:t>
            </a:r>
          </a:p>
        </p:txBody>
      </p:sp>
      <p:pic>
        <p:nvPicPr>
          <p:cNvPr id="19" name="Picture 18" descr="test_page_1_storage_dark.png"/>
          <p:cNvPicPr>
            <a:picLocks noChangeAspect="1"/>
          </p:cNvPicPr>
          <p:nvPr/>
        </p:nvPicPr>
        <p:blipFill>
          <a:blip r:embed="rId3"/>
          <a:stretch>
            <a:fillRect/>
          </a:stretch>
        </p:blipFill>
        <p:spPr>
          <a:xfrm>
            <a:off x="6217920" y="2020824"/>
            <a:ext cx="5221224" cy="2807208"/>
          </a:xfrm>
          <a:prstGeom prst="rect">
            <a:avLst/>
          </a:prstGeom>
        </p:spPr>
      </p:pic>
      <p:sp>
        <p:nvSpPr>
          <p:cNvPr id="20" name="Rounded Rectangle 19"/>
          <p:cNvSpPr/>
          <p:nvPr/>
        </p:nvSpPr>
        <p:spPr>
          <a:xfrm>
            <a:off x="731520" y="5010912"/>
            <a:ext cx="10728655" cy="123444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13683" y="5010912"/>
            <a:ext cx="13716" cy="12344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7" y="5010912"/>
            <a:ext cx="13716" cy="12344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78011" y="5010912"/>
            <a:ext cx="13716" cy="12344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20640"/>
            <a:ext cx="2407843" cy="1014984"/>
          </a:xfrm>
          <a:prstGeom prst="rect">
            <a:avLst/>
          </a:prstGeom>
          <a:noFill/>
        </p:spPr>
        <p:txBody>
          <a:bodyPr wrap="square">
            <a:spAutoFit/>
          </a:bodyPr>
          <a:lstStyle/>
          <a:p>
            <a:pPr>
              <a:defRPr sz="1050" b="1">
                <a:solidFill>
                  <a:srgbClr val="FF7A2E"/>
                </a:solidFill>
                <a:latin typeface="Segoe UI"/>
              </a:defRPr>
            </a:pPr>
            <a:r>
              <a:t>✓  Multi-Format Ingestion</a:t>
            </a:r>
          </a:p>
          <a:p>
            <a:pPr>
              <a:defRPr sz="880">
                <a:solidFill>
                  <a:srgbClr val="CBD5E1"/>
                </a:solidFill>
                <a:latin typeface="Segoe UI"/>
              </a:defRPr>
            </a:pPr>
            <a:r>
              <a:t>Categorized across Legal, Medical, Financial, Academic, General.</a:t>
            </a:r>
          </a:p>
        </p:txBody>
      </p:sp>
      <p:sp>
        <p:nvSpPr>
          <p:cNvPr id="25" name="TextBox 24"/>
          <p:cNvSpPr txBox="1"/>
          <p:nvPr/>
        </p:nvSpPr>
        <p:spPr>
          <a:xfrm>
            <a:off x="3550843" y="5120640"/>
            <a:ext cx="2407843" cy="1014984"/>
          </a:xfrm>
          <a:prstGeom prst="rect">
            <a:avLst/>
          </a:prstGeom>
          <a:noFill/>
        </p:spPr>
        <p:txBody>
          <a:bodyPr wrap="square">
            <a:spAutoFit/>
          </a:bodyPr>
          <a:lstStyle/>
          <a:p>
            <a:pPr>
              <a:defRPr sz="1050" b="1">
                <a:solidFill>
                  <a:srgbClr val="FF7A2E"/>
                </a:solidFill>
                <a:latin typeface="Segoe UI"/>
              </a:defRPr>
            </a:pPr>
            <a:r>
              <a:t>✓  Storage Quota Monitored</a:t>
            </a:r>
          </a:p>
          <a:p>
            <a:pPr>
              <a:defRPr sz="880">
                <a:solidFill>
                  <a:srgbClr val="CBD5E1"/>
                </a:solidFill>
                <a:latin typeface="Segoe UI"/>
              </a:defRPr>
            </a:pPr>
            <a:r>
              <a:t>Live real-time monitoring with interactive Plotly doughnut breakdown.</a:t>
            </a:r>
          </a:p>
        </p:txBody>
      </p:sp>
      <p:sp>
        <p:nvSpPr>
          <p:cNvPr id="26" name="TextBox 25"/>
          <p:cNvSpPr txBox="1"/>
          <p:nvPr/>
        </p:nvSpPr>
        <p:spPr>
          <a:xfrm>
            <a:off x="6233007" y="5120640"/>
            <a:ext cx="2407843" cy="1014984"/>
          </a:xfrm>
          <a:prstGeom prst="rect">
            <a:avLst/>
          </a:prstGeom>
          <a:noFill/>
        </p:spPr>
        <p:txBody>
          <a:bodyPr wrap="square">
            <a:spAutoFit/>
          </a:bodyPr>
          <a:lstStyle/>
          <a:p>
            <a:pPr>
              <a:defRPr sz="1050" b="1">
                <a:solidFill>
                  <a:srgbClr val="FF7A2E"/>
                </a:solidFill>
                <a:latin typeface="Segoe UI"/>
              </a:defRPr>
            </a:pPr>
            <a:r>
              <a:t>✓  100% Authentic Hashes</a:t>
            </a:r>
          </a:p>
          <a:p>
            <a:pPr>
              <a:defRPr sz="880">
                <a:solidFill>
                  <a:srgbClr val="CBD5E1"/>
                </a:solidFill>
                <a:latin typeface="Segoe UI"/>
              </a:defRPr>
            </a:pPr>
            <a:r>
              <a:t>Every file verified via deterministic SHA-256 on intake.</a:t>
            </a:r>
          </a:p>
        </p:txBody>
      </p:sp>
      <p:sp>
        <p:nvSpPr>
          <p:cNvPr id="27" name="TextBox 26"/>
          <p:cNvSpPr txBox="1"/>
          <p:nvPr/>
        </p:nvSpPr>
        <p:spPr>
          <a:xfrm>
            <a:off x="8915171" y="5120640"/>
            <a:ext cx="2407843" cy="1014984"/>
          </a:xfrm>
          <a:prstGeom prst="rect">
            <a:avLst/>
          </a:prstGeom>
          <a:noFill/>
        </p:spPr>
        <p:txBody>
          <a:bodyPr wrap="square">
            <a:spAutoFit/>
          </a:bodyPr>
          <a:lstStyle/>
          <a:p>
            <a:pPr>
              <a:defRPr sz="1050" b="1">
                <a:solidFill>
                  <a:srgbClr val="FF7A2E"/>
                </a:solidFill>
                <a:latin typeface="Segoe UI"/>
              </a:defRPr>
            </a:pPr>
            <a:r>
              <a:t>✓  Directory Watcher Active</a:t>
            </a:r>
          </a:p>
          <a:p>
            <a:pPr>
              <a:defRPr sz="880">
                <a:solidFill>
                  <a:srgbClr val="CBD5E1"/>
                </a:solidFill>
                <a:latin typeface="Segoe UI"/>
              </a:defRPr>
            </a:pPr>
            <a:r>
              <a:t>Automated background sync thread monitors local folder changes.</a:t>
            </a:r>
          </a:p>
        </p:txBody>
      </p:sp>
      <p:sp>
        <p:nvSpPr>
          <p:cNvPr id="28" name="Rectangle 27"/>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30" name="TextBox 29"/>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31" name="TextBox 30"/>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08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08 / FORENSIC &amp; INTEGRITY EVIDENCE</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Cryptographic Health Forensics &amp; Immutable Audit Trail</a:t>
            </a:r>
          </a:p>
          <a:p>
            <a:pPr>
              <a:defRPr sz="1150">
                <a:solidFill>
                  <a:srgbClr val="94A3B8"/>
                </a:solidFill>
                <a:latin typeface="Segoe UI"/>
              </a:defRPr>
            </a:pPr>
            <a:r>
              <a:t>Live verification of SHA-256 digests, tamper detection score, and comprehensive activity logging.</a:t>
            </a:r>
          </a:p>
        </p:txBody>
      </p:sp>
      <p:sp>
        <p:nvSpPr>
          <p:cNvPr id="6" name="Rounded Rectangle 5"/>
          <p:cNvSpPr/>
          <p:nvPr/>
        </p:nvSpPr>
        <p:spPr>
          <a:xfrm>
            <a:off x="731520" y="1691640"/>
            <a:ext cx="5257800" cy="3154680"/>
          </a:xfrm>
          <a:prstGeom prst="roundRect">
            <a:avLst/>
          </a:prstGeom>
          <a:solidFill>
            <a:srgbClr val="0C0C11"/>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0664" y="1700784"/>
            <a:ext cx="5239512" cy="310896"/>
          </a:xfrm>
          <a:prstGeom prst="rect">
            <a:avLst/>
          </a:prstGeom>
          <a:solidFill>
            <a:srgbClr val="12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792224"/>
            <a:ext cx="91440" cy="9144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792224"/>
            <a:ext cx="91440" cy="914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2144" y="179222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719072"/>
            <a:ext cx="4572000" cy="310896"/>
          </a:xfrm>
          <a:prstGeom prst="rect">
            <a:avLst/>
          </a:prstGeom>
          <a:noFill/>
        </p:spPr>
        <p:txBody>
          <a:bodyPr wrap="none">
            <a:spAutoFit/>
          </a:bodyPr>
          <a:lstStyle/>
          <a:p>
            <a:pPr>
              <a:defRPr sz="850">
                <a:solidFill>
                  <a:srgbClr val="94A3B8"/>
                </a:solidFill>
                <a:latin typeface="Segoe UI"/>
              </a:defRPr>
            </a:pPr>
            <a:r>
              <a:t>DocuVault — Security Forensics &amp; File Tamper Scan Center [100% Health Score]</a:t>
            </a:r>
          </a:p>
        </p:txBody>
      </p:sp>
      <p:pic>
        <p:nvPicPr>
          <p:cNvPr id="12" name="Picture 11" descr="integrity_health.png"/>
          <p:cNvPicPr>
            <a:picLocks noChangeAspect="1"/>
          </p:cNvPicPr>
          <p:nvPr/>
        </p:nvPicPr>
        <p:blipFill>
          <a:blip r:embed="rId2"/>
          <a:stretch>
            <a:fillRect/>
          </a:stretch>
        </p:blipFill>
        <p:spPr>
          <a:xfrm>
            <a:off x="749808" y="2020824"/>
            <a:ext cx="5221224" cy="2807208"/>
          </a:xfrm>
          <a:prstGeom prst="rect">
            <a:avLst/>
          </a:prstGeom>
        </p:spPr>
      </p:pic>
      <p:sp>
        <p:nvSpPr>
          <p:cNvPr id="13" name="Rounded Rectangle 12"/>
          <p:cNvSpPr/>
          <p:nvPr/>
        </p:nvSpPr>
        <p:spPr>
          <a:xfrm>
            <a:off x="6199632" y="1691640"/>
            <a:ext cx="5257800" cy="3154680"/>
          </a:xfrm>
          <a:prstGeom prst="roundRect">
            <a:avLst/>
          </a:prstGeom>
          <a:solidFill>
            <a:srgbClr val="0C0C11"/>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700784"/>
            <a:ext cx="5239512" cy="310896"/>
          </a:xfrm>
          <a:prstGeom prst="rect">
            <a:avLst/>
          </a:prstGeom>
          <a:solidFill>
            <a:srgbClr val="12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27648" y="1792224"/>
            <a:ext cx="91440" cy="9144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3952" y="1792224"/>
            <a:ext cx="91440" cy="914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20256" y="179222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3992" y="1719072"/>
            <a:ext cx="4572000" cy="310896"/>
          </a:xfrm>
          <a:prstGeom prst="rect">
            <a:avLst/>
          </a:prstGeom>
          <a:noFill/>
        </p:spPr>
        <p:txBody>
          <a:bodyPr wrap="none">
            <a:spAutoFit/>
          </a:bodyPr>
          <a:lstStyle/>
          <a:p>
            <a:pPr>
              <a:defRPr sz="850">
                <a:solidFill>
                  <a:srgbClr val="94A3B8"/>
                </a:solidFill>
                <a:latin typeface="Segoe UI"/>
              </a:defRPr>
            </a:pPr>
            <a:r>
              <a:t>DocuVault — Comprehensive Activity &amp; Audit Logging [Chronological Event Stream]</a:t>
            </a:r>
          </a:p>
        </p:txBody>
      </p:sp>
      <p:pic>
        <p:nvPicPr>
          <p:cNvPr id="19" name="Picture 18" descr="audit_trail.png"/>
          <p:cNvPicPr>
            <a:picLocks noChangeAspect="1"/>
          </p:cNvPicPr>
          <p:nvPr/>
        </p:nvPicPr>
        <p:blipFill>
          <a:blip r:embed="rId3"/>
          <a:stretch>
            <a:fillRect/>
          </a:stretch>
        </p:blipFill>
        <p:spPr>
          <a:xfrm>
            <a:off x="6217920" y="2020824"/>
            <a:ext cx="5221224" cy="2807208"/>
          </a:xfrm>
          <a:prstGeom prst="rect">
            <a:avLst/>
          </a:prstGeom>
        </p:spPr>
      </p:pic>
      <p:sp>
        <p:nvSpPr>
          <p:cNvPr id="20" name="Rounded Rectangle 19"/>
          <p:cNvSpPr/>
          <p:nvPr/>
        </p:nvSpPr>
        <p:spPr>
          <a:xfrm>
            <a:off x="731520" y="5010912"/>
            <a:ext cx="10728655" cy="123444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13683" y="5010912"/>
            <a:ext cx="13716" cy="12344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7" y="5010912"/>
            <a:ext cx="13716" cy="12344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78011" y="5010912"/>
            <a:ext cx="13716" cy="12344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20640"/>
            <a:ext cx="2407843" cy="1014984"/>
          </a:xfrm>
          <a:prstGeom prst="rect">
            <a:avLst/>
          </a:prstGeom>
          <a:noFill/>
        </p:spPr>
        <p:txBody>
          <a:bodyPr wrap="square">
            <a:spAutoFit/>
          </a:bodyPr>
          <a:lstStyle/>
          <a:p>
            <a:pPr>
              <a:defRPr sz="1050" b="1">
                <a:solidFill>
                  <a:srgbClr val="FF7A2E"/>
                </a:solidFill>
                <a:latin typeface="Segoe UI"/>
              </a:defRPr>
            </a:pPr>
            <a:r>
              <a:t>✓  Tamper-Evident Hashing</a:t>
            </a:r>
          </a:p>
          <a:p>
            <a:pPr>
              <a:defRPr sz="880">
                <a:solidFill>
                  <a:srgbClr val="CBD5E1"/>
                </a:solidFill>
                <a:latin typeface="Segoe UI"/>
              </a:defRPr>
            </a:pPr>
            <a:r>
              <a:t>Continuous SHA-256 re-hashing with constant-time verification.</a:t>
            </a:r>
          </a:p>
        </p:txBody>
      </p:sp>
      <p:sp>
        <p:nvSpPr>
          <p:cNvPr id="25" name="TextBox 24"/>
          <p:cNvSpPr txBox="1"/>
          <p:nvPr/>
        </p:nvSpPr>
        <p:spPr>
          <a:xfrm>
            <a:off x="3550843" y="5120640"/>
            <a:ext cx="2407843" cy="1014984"/>
          </a:xfrm>
          <a:prstGeom prst="rect">
            <a:avLst/>
          </a:prstGeom>
          <a:noFill/>
        </p:spPr>
        <p:txBody>
          <a:bodyPr wrap="square">
            <a:spAutoFit/>
          </a:bodyPr>
          <a:lstStyle/>
          <a:p>
            <a:pPr>
              <a:defRPr sz="1050" b="1">
                <a:solidFill>
                  <a:srgbClr val="FF7A2E"/>
                </a:solidFill>
                <a:latin typeface="Segoe UI"/>
              </a:defRPr>
            </a:pPr>
            <a:r>
              <a:t>✓  100/100 Health Score</a:t>
            </a:r>
          </a:p>
          <a:p>
            <a:pPr>
              <a:defRPr sz="880">
                <a:solidFill>
                  <a:srgbClr val="CBD5E1"/>
                </a:solidFill>
                <a:latin typeface="Segoe UI"/>
              </a:defRPr>
            </a:pPr>
            <a:r>
              <a:t>42/42 repository documents verified authentic with zero tampering.</a:t>
            </a:r>
          </a:p>
        </p:txBody>
      </p:sp>
      <p:sp>
        <p:nvSpPr>
          <p:cNvPr id="26" name="TextBox 25"/>
          <p:cNvSpPr txBox="1"/>
          <p:nvPr/>
        </p:nvSpPr>
        <p:spPr>
          <a:xfrm>
            <a:off x="6233007" y="5120640"/>
            <a:ext cx="2407843" cy="1014984"/>
          </a:xfrm>
          <a:prstGeom prst="rect">
            <a:avLst/>
          </a:prstGeom>
          <a:noFill/>
        </p:spPr>
        <p:txBody>
          <a:bodyPr wrap="square">
            <a:spAutoFit/>
          </a:bodyPr>
          <a:lstStyle/>
          <a:p>
            <a:pPr>
              <a:defRPr sz="1050" b="1">
                <a:solidFill>
                  <a:srgbClr val="FF7A2E"/>
                </a:solidFill>
                <a:latin typeface="Segoe UI"/>
              </a:defRPr>
            </a:pPr>
            <a:r>
              <a:t>✓  Granular Audit Logging</a:t>
            </a:r>
          </a:p>
          <a:p>
            <a:pPr>
              <a:defRPr sz="880">
                <a:solidFill>
                  <a:srgbClr val="CBD5E1"/>
                </a:solidFill>
                <a:latin typeface="Segoe UI"/>
              </a:defRPr>
            </a:pPr>
            <a:r>
              <a:t>Chronologically records DB saves, queries, and logins with microsecond stamps.</a:t>
            </a:r>
          </a:p>
        </p:txBody>
      </p:sp>
      <p:sp>
        <p:nvSpPr>
          <p:cNvPr id="27" name="TextBox 26"/>
          <p:cNvSpPr txBox="1"/>
          <p:nvPr/>
        </p:nvSpPr>
        <p:spPr>
          <a:xfrm>
            <a:off x="8915171" y="5120640"/>
            <a:ext cx="2407843" cy="1014984"/>
          </a:xfrm>
          <a:prstGeom prst="rect">
            <a:avLst/>
          </a:prstGeom>
          <a:noFill/>
        </p:spPr>
        <p:txBody>
          <a:bodyPr wrap="square">
            <a:spAutoFit/>
          </a:bodyPr>
          <a:lstStyle/>
          <a:p>
            <a:pPr>
              <a:defRPr sz="1050" b="1">
                <a:solidFill>
                  <a:srgbClr val="FF7A2E"/>
                </a:solidFill>
                <a:latin typeface="Segoe UI"/>
              </a:defRPr>
            </a:pPr>
            <a:r>
              <a:t>✓  1-Click CSV Export</a:t>
            </a:r>
          </a:p>
          <a:p>
            <a:pPr>
              <a:defRPr sz="880">
                <a:solidFill>
                  <a:srgbClr val="CBD5E1"/>
                </a:solidFill>
                <a:latin typeface="Segoe UI"/>
              </a:defRPr>
            </a:pPr>
            <a:r>
              <a:t>Structured compliance export compatible with regulatory audit reviews.</a:t>
            </a:r>
          </a:p>
        </p:txBody>
      </p:sp>
      <p:sp>
        <p:nvSpPr>
          <p:cNvPr id="28" name="Rectangle 27"/>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30" name="TextBox 29"/>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31" name="TextBox 30"/>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09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09 / INTELLIGENCE &amp; GOVERNANCE EVIDENCE</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Air-Gapped AI Assistant &amp; Compliance Calendar</a:t>
            </a:r>
          </a:p>
          <a:p>
            <a:pPr>
              <a:defRPr sz="1150">
                <a:solidFill>
                  <a:srgbClr val="94A3B8"/>
                </a:solidFill>
                <a:latin typeface="Segoe UI"/>
              </a:defRPr>
            </a:pPr>
            <a:r>
              <a:t>Offline-first neural vector search with verified source attribution and holiday-aware deadline management.</a:t>
            </a:r>
          </a:p>
        </p:txBody>
      </p:sp>
      <p:sp>
        <p:nvSpPr>
          <p:cNvPr id="6" name="Rounded Rectangle 5"/>
          <p:cNvSpPr/>
          <p:nvPr/>
        </p:nvSpPr>
        <p:spPr>
          <a:xfrm>
            <a:off x="731520" y="1691640"/>
            <a:ext cx="5257800" cy="3154680"/>
          </a:xfrm>
          <a:prstGeom prst="roundRect">
            <a:avLst/>
          </a:prstGeom>
          <a:solidFill>
            <a:srgbClr val="0C0C11"/>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0664" y="1700784"/>
            <a:ext cx="5239512" cy="310896"/>
          </a:xfrm>
          <a:prstGeom prst="rect">
            <a:avLst/>
          </a:prstGeom>
          <a:solidFill>
            <a:srgbClr val="12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59536" y="1792224"/>
            <a:ext cx="91440" cy="9144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1792224"/>
            <a:ext cx="91440" cy="914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2144" y="179222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719072"/>
            <a:ext cx="4572000" cy="310896"/>
          </a:xfrm>
          <a:prstGeom prst="rect">
            <a:avLst/>
          </a:prstGeom>
          <a:noFill/>
        </p:spPr>
        <p:txBody>
          <a:bodyPr wrap="none">
            <a:spAutoFit/>
          </a:bodyPr>
          <a:lstStyle/>
          <a:p>
            <a:pPr>
              <a:defRPr sz="850">
                <a:solidFill>
                  <a:srgbClr val="94A3B8"/>
                </a:solidFill>
                <a:latin typeface="Segoe UI"/>
              </a:defRPr>
            </a:pPr>
            <a:r>
              <a:t>DocuVault — Explainable AI Assistant [Document Intelligence RAG]</a:t>
            </a:r>
          </a:p>
        </p:txBody>
      </p:sp>
      <p:pic>
        <p:nvPicPr>
          <p:cNvPr id="12" name="Picture 11" descr="ai_assistant.png"/>
          <p:cNvPicPr>
            <a:picLocks noChangeAspect="1"/>
          </p:cNvPicPr>
          <p:nvPr/>
        </p:nvPicPr>
        <p:blipFill>
          <a:blip r:embed="rId2"/>
          <a:stretch>
            <a:fillRect/>
          </a:stretch>
        </p:blipFill>
        <p:spPr>
          <a:xfrm>
            <a:off x="749808" y="2020824"/>
            <a:ext cx="5221224" cy="2807208"/>
          </a:xfrm>
          <a:prstGeom prst="rect">
            <a:avLst/>
          </a:prstGeom>
        </p:spPr>
      </p:pic>
      <p:sp>
        <p:nvSpPr>
          <p:cNvPr id="13" name="Rounded Rectangle 12"/>
          <p:cNvSpPr/>
          <p:nvPr/>
        </p:nvSpPr>
        <p:spPr>
          <a:xfrm>
            <a:off x="6199632" y="1691640"/>
            <a:ext cx="5257800" cy="3154680"/>
          </a:xfrm>
          <a:prstGeom prst="roundRect">
            <a:avLst/>
          </a:prstGeom>
          <a:solidFill>
            <a:srgbClr val="0C0C11"/>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08776" y="1700784"/>
            <a:ext cx="5239512" cy="310896"/>
          </a:xfrm>
          <a:prstGeom prst="rect">
            <a:avLst/>
          </a:prstGeom>
          <a:solidFill>
            <a:srgbClr val="1212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27648" y="1792224"/>
            <a:ext cx="91440" cy="9144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73952" y="1792224"/>
            <a:ext cx="91440" cy="9144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20256" y="1792224"/>
            <a:ext cx="91440" cy="9144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3992" y="1719072"/>
            <a:ext cx="4572000" cy="310896"/>
          </a:xfrm>
          <a:prstGeom prst="rect">
            <a:avLst/>
          </a:prstGeom>
          <a:noFill/>
        </p:spPr>
        <p:txBody>
          <a:bodyPr wrap="none">
            <a:spAutoFit/>
          </a:bodyPr>
          <a:lstStyle/>
          <a:p>
            <a:pPr>
              <a:defRPr sz="850">
                <a:solidFill>
                  <a:srgbClr val="94A3B8"/>
                </a:solidFill>
                <a:latin typeface="Segoe UI"/>
              </a:defRPr>
            </a:pPr>
            <a:r>
              <a:t>DocuVault — Deadlines, Calendar Shifting &amp; iCal Export</a:t>
            </a:r>
          </a:p>
        </p:txBody>
      </p:sp>
      <p:pic>
        <p:nvPicPr>
          <p:cNvPr id="19" name="Picture 18" descr="deadlines_compliance.png"/>
          <p:cNvPicPr>
            <a:picLocks noChangeAspect="1"/>
          </p:cNvPicPr>
          <p:nvPr/>
        </p:nvPicPr>
        <p:blipFill>
          <a:blip r:embed="rId3"/>
          <a:stretch>
            <a:fillRect/>
          </a:stretch>
        </p:blipFill>
        <p:spPr>
          <a:xfrm>
            <a:off x="6217920" y="2020824"/>
            <a:ext cx="5221224" cy="2807208"/>
          </a:xfrm>
          <a:prstGeom prst="rect">
            <a:avLst/>
          </a:prstGeom>
        </p:spPr>
      </p:pic>
      <p:sp>
        <p:nvSpPr>
          <p:cNvPr id="20" name="Rounded Rectangle 19"/>
          <p:cNvSpPr/>
          <p:nvPr/>
        </p:nvSpPr>
        <p:spPr>
          <a:xfrm>
            <a:off x="731520" y="5010912"/>
            <a:ext cx="10728655" cy="123444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13683" y="5010912"/>
            <a:ext cx="13716" cy="12344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95847" y="5010912"/>
            <a:ext cx="13716" cy="12344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78011" y="5010912"/>
            <a:ext cx="13716" cy="123444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20640"/>
            <a:ext cx="2407843" cy="1014984"/>
          </a:xfrm>
          <a:prstGeom prst="rect">
            <a:avLst/>
          </a:prstGeom>
          <a:noFill/>
        </p:spPr>
        <p:txBody>
          <a:bodyPr wrap="square">
            <a:spAutoFit/>
          </a:bodyPr>
          <a:lstStyle/>
          <a:p>
            <a:pPr>
              <a:defRPr sz="1050" b="1">
                <a:solidFill>
                  <a:srgbClr val="FF7A2E"/>
                </a:solidFill>
                <a:latin typeface="Segoe UI"/>
              </a:defRPr>
            </a:pPr>
            <a:r>
              <a:t>✓  Zero Cloud Exfiltration</a:t>
            </a:r>
          </a:p>
          <a:p>
            <a:pPr>
              <a:defRPr sz="880">
                <a:solidFill>
                  <a:srgbClr val="CBD5E1"/>
                </a:solidFill>
                <a:latin typeface="Segoe UI"/>
              </a:defRPr>
            </a:pPr>
            <a:r>
              <a:t>100% offline air-gapped retrieval ensures private documents never leak.</a:t>
            </a:r>
          </a:p>
        </p:txBody>
      </p:sp>
      <p:sp>
        <p:nvSpPr>
          <p:cNvPr id="25" name="TextBox 24"/>
          <p:cNvSpPr txBox="1"/>
          <p:nvPr/>
        </p:nvSpPr>
        <p:spPr>
          <a:xfrm>
            <a:off x="3550843" y="5120640"/>
            <a:ext cx="2407843" cy="1014984"/>
          </a:xfrm>
          <a:prstGeom prst="rect">
            <a:avLst/>
          </a:prstGeom>
          <a:noFill/>
        </p:spPr>
        <p:txBody>
          <a:bodyPr wrap="square">
            <a:spAutoFit/>
          </a:bodyPr>
          <a:lstStyle/>
          <a:p>
            <a:pPr>
              <a:defRPr sz="1050" b="1">
                <a:solidFill>
                  <a:srgbClr val="FF7A2E"/>
                </a:solidFill>
                <a:latin typeface="Segoe UI"/>
              </a:defRPr>
            </a:pPr>
            <a:r>
              <a:t>✓  Source-Grounded Citations</a:t>
            </a:r>
          </a:p>
          <a:p>
            <a:pPr>
              <a:defRPr sz="880">
                <a:solidFill>
                  <a:srgbClr val="CBD5E1"/>
                </a:solidFill>
                <a:latin typeface="Segoe UI"/>
              </a:defRPr>
            </a:pPr>
            <a:r>
              <a:t>Answers display exact file title, target page number, and quoted clause.</a:t>
            </a:r>
          </a:p>
        </p:txBody>
      </p:sp>
      <p:sp>
        <p:nvSpPr>
          <p:cNvPr id="26" name="TextBox 25"/>
          <p:cNvSpPr txBox="1"/>
          <p:nvPr/>
        </p:nvSpPr>
        <p:spPr>
          <a:xfrm>
            <a:off x="6233007" y="5120640"/>
            <a:ext cx="2407843" cy="1014984"/>
          </a:xfrm>
          <a:prstGeom prst="rect">
            <a:avLst/>
          </a:prstGeom>
          <a:noFill/>
        </p:spPr>
        <p:txBody>
          <a:bodyPr wrap="square">
            <a:spAutoFit/>
          </a:bodyPr>
          <a:lstStyle/>
          <a:p>
            <a:pPr>
              <a:defRPr sz="1050" b="1">
                <a:solidFill>
                  <a:srgbClr val="FF7A2E"/>
                </a:solidFill>
                <a:latin typeface="Segoe UI"/>
              </a:defRPr>
            </a:pPr>
            <a:r>
              <a:t>✓  Holiday-Aware Shifting</a:t>
            </a:r>
          </a:p>
          <a:p>
            <a:pPr>
              <a:defRPr sz="880">
                <a:solidFill>
                  <a:srgbClr val="CBD5E1"/>
                </a:solidFill>
                <a:latin typeface="Segoe UI"/>
              </a:defRPr>
            </a:pPr>
            <a:r>
              <a:t>Contracts shift past weekends and official public holidays via API.</a:t>
            </a:r>
          </a:p>
        </p:txBody>
      </p:sp>
      <p:sp>
        <p:nvSpPr>
          <p:cNvPr id="27" name="TextBox 26"/>
          <p:cNvSpPr txBox="1"/>
          <p:nvPr/>
        </p:nvSpPr>
        <p:spPr>
          <a:xfrm>
            <a:off x="8915171" y="5120640"/>
            <a:ext cx="2407843" cy="1014984"/>
          </a:xfrm>
          <a:prstGeom prst="rect">
            <a:avLst/>
          </a:prstGeom>
          <a:noFill/>
        </p:spPr>
        <p:txBody>
          <a:bodyPr wrap="square">
            <a:spAutoFit/>
          </a:bodyPr>
          <a:lstStyle/>
          <a:p>
            <a:pPr>
              <a:defRPr sz="1050" b="1">
                <a:solidFill>
                  <a:srgbClr val="FF7A2E"/>
                </a:solidFill>
                <a:latin typeface="Segoe UI"/>
              </a:defRPr>
            </a:pPr>
            <a:r>
              <a:t>✓  Universal Search (Ctrl+K)</a:t>
            </a:r>
          </a:p>
          <a:p>
            <a:pPr>
              <a:defRPr sz="880">
                <a:solidFill>
                  <a:srgbClr val="CBD5E1"/>
                </a:solidFill>
                <a:latin typeface="Segoe UI"/>
              </a:defRPr>
            </a:pPr>
            <a:r>
              <a:t>Instant fuzzy search across filenames, metadata, and extracted text.</a:t>
            </a:r>
          </a:p>
        </p:txBody>
      </p:sp>
      <p:sp>
        <p:nvSpPr>
          <p:cNvPr id="28" name="Rectangle 27"/>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30" name="TextBox 29"/>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31" name="TextBox 30"/>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10 / TESTING &amp; VERIFICATION</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Empirical Test Matrix &amp; Demonstration Outcomes</a:t>
            </a:r>
          </a:p>
          <a:p>
            <a:pPr>
              <a:defRPr sz="1150">
                <a:solidFill>
                  <a:srgbClr val="94A3B8"/>
                </a:solidFill>
                <a:latin typeface="Segoe UI"/>
              </a:defRPr>
            </a:pPr>
            <a:r>
              <a:t>Verified outcomes from controlled test scenarios conducted during the capstone application demonstration.</a:t>
            </a:r>
          </a:p>
        </p:txBody>
      </p:sp>
      <p:sp>
        <p:nvSpPr>
          <p:cNvPr id="6" name="Rounded Rectangle 5"/>
          <p:cNvSpPr/>
          <p:nvPr/>
        </p:nvSpPr>
        <p:spPr>
          <a:xfrm>
            <a:off x="731520" y="1691640"/>
            <a:ext cx="10728655" cy="448056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914400" y="1828800"/>
          <a:ext cx="10362895" cy="3291840"/>
        </p:xfrm>
        <a:graphic>
          <a:graphicData uri="http://schemas.openxmlformats.org/drawingml/2006/table">
            <a:tbl>
              <a:tblPr firstRow="1" bandRow="1">
                <a:tableStyleId>{5C22544A-7EE6-4342-B048-85BDC9FD1C3A}</a:tableStyleId>
              </a:tblPr>
              <a:tblGrid>
                <a:gridCol w="2011680"/>
                <a:gridCol w="2194560"/>
                <a:gridCol w="2560320"/>
                <a:gridCol w="2468880"/>
                <a:gridCol w="1127455"/>
              </a:tblGrid>
              <a:tr h="548640">
                <a:tc>
                  <a:txBody>
                    <a:bodyPr/>
                    <a:lstStyle/>
                    <a:p>
                      <a:pPr>
                        <a:defRPr sz="1000" b="1">
                          <a:solidFill>
                            <a:srgbClr val="FF7A2E"/>
                          </a:solidFill>
                          <a:latin typeface="Segoe UI"/>
                        </a:defRPr>
                      </a:pPr>
                      <a:r>
                        <a:t>Test Scenario</a:t>
                      </a:r>
                    </a:p>
                  </a:txBody>
                  <a:tcPr>
                    <a:solidFill>
                      <a:srgbClr val="161620"/>
                    </a:solidFill>
                  </a:tcPr>
                </a:tc>
                <a:tc>
                  <a:txBody>
                    <a:bodyPr/>
                    <a:lstStyle/>
                    <a:p>
                      <a:pPr>
                        <a:defRPr sz="1000" b="1">
                          <a:solidFill>
                            <a:srgbClr val="FF7A2E"/>
                          </a:solidFill>
                          <a:latin typeface="Segoe UI"/>
                        </a:defRPr>
                      </a:pPr>
                      <a:r>
                        <a:t>Test Procedure</a:t>
                      </a:r>
                    </a:p>
                  </a:txBody>
                  <a:tcPr>
                    <a:solidFill>
                      <a:srgbClr val="161620"/>
                    </a:solidFill>
                  </a:tcPr>
                </a:tc>
                <a:tc>
                  <a:txBody>
                    <a:bodyPr/>
                    <a:lstStyle/>
                    <a:p>
                      <a:pPr>
                        <a:defRPr sz="1000" b="1">
                          <a:solidFill>
                            <a:srgbClr val="FF7A2E"/>
                          </a:solidFill>
                          <a:latin typeface="Segoe UI"/>
                        </a:defRPr>
                      </a:pPr>
                      <a:r>
                        <a:t>Expected Technical Result</a:t>
                      </a:r>
                    </a:p>
                  </a:txBody>
                  <a:tcPr>
                    <a:solidFill>
                      <a:srgbClr val="161620"/>
                    </a:solidFill>
                  </a:tcPr>
                </a:tc>
                <a:tc>
                  <a:txBody>
                    <a:bodyPr/>
                    <a:lstStyle/>
                    <a:p>
                      <a:pPr>
                        <a:defRPr sz="1000" b="1">
                          <a:solidFill>
                            <a:srgbClr val="FF7A2E"/>
                          </a:solidFill>
                          <a:latin typeface="Segoe UI"/>
                        </a:defRPr>
                      </a:pPr>
                      <a:r>
                        <a:t>Demonstrated Result</a:t>
                      </a:r>
                    </a:p>
                  </a:txBody>
                  <a:tcPr>
                    <a:solidFill>
                      <a:srgbClr val="161620"/>
                    </a:solidFill>
                  </a:tcPr>
                </a:tc>
                <a:tc>
                  <a:txBody>
                    <a:bodyPr/>
                    <a:lstStyle/>
                    <a:p>
                      <a:pPr>
                        <a:defRPr sz="1000" b="1">
                          <a:solidFill>
                            <a:srgbClr val="FF7A2E"/>
                          </a:solidFill>
                          <a:latin typeface="Segoe UI"/>
                        </a:defRPr>
                      </a:pPr>
                      <a:r>
                        <a:t>Status</a:t>
                      </a:r>
                    </a:p>
                  </a:txBody>
                  <a:tcPr>
                    <a:solidFill>
                      <a:srgbClr val="161620"/>
                    </a:solidFill>
                  </a:tcPr>
                </a:tc>
              </a:tr>
              <a:tr h="548640">
                <a:tc>
                  <a:txBody>
                    <a:bodyPr/>
                    <a:lstStyle/>
                    <a:p>
                      <a:pPr>
                        <a:defRPr sz="900" b="1">
                          <a:solidFill>
                            <a:srgbClr val="FFFFFF"/>
                          </a:solidFill>
                          <a:latin typeface="Segoe UI"/>
                        </a:defRPr>
                      </a:pPr>
                      <a:r>
                        <a:t>Document Ingestion &amp; Magic-Bytes</a:t>
                      </a:r>
                    </a:p>
                  </a:txBody>
                  <a:tcPr>
                    <a:solidFill>
                      <a:srgbClr val="101018"/>
                    </a:solidFill>
                  </a:tcPr>
                </a:tc>
                <a:tc>
                  <a:txBody>
                    <a:bodyPr/>
                    <a:lstStyle/>
                    <a:p>
                      <a:pPr>
                        <a:defRPr sz="900">
                          <a:solidFill>
                            <a:srgbClr val="CBD5E1"/>
                          </a:solidFill>
                          <a:latin typeface="Segoe UI"/>
                        </a:defRPr>
                      </a:pPr>
                      <a:r>
                        <a:t>Import valid PDF and disguised .exe/.bat binary</a:t>
                      </a:r>
                    </a:p>
                  </a:txBody>
                  <a:tcPr>
                    <a:solidFill>
                      <a:srgbClr val="101018"/>
                    </a:solidFill>
                  </a:tcPr>
                </a:tc>
                <a:tc>
                  <a:txBody>
                    <a:bodyPr/>
                    <a:lstStyle/>
                    <a:p>
                      <a:pPr>
                        <a:defRPr sz="900">
                          <a:solidFill>
                            <a:srgbClr val="CBD5E1"/>
                          </a:solidFill>
                          <a:latin typeface="Segoe UI"/>
                        </a:defRPr>
                      </a:pPr>
                      <a:r>
                        <a:t>Magic-byte inspection validates binary header; rejects spoofed extensions</a:t>
                      </a:r>
                    </a:p>
                  </a:txBody>
                  <a:tcPr>
                    <a:solidFill>
                      <a:srgbClr val="101018"/>
                    </a:solidFill>
                  </a:tcPr>
                </a:tc>
                <a:tc>
                  <a:txBody>
                    <a:bodyPr/>
                    <a:lstStyle/>
                    <a:p>
                      <a:pPr>
                        <a:defRPr sz="900">
                          <a:solidFill>
                            <a:srgbClr val="CBD5E1"/>
                          </a:solidFill>
                          <a:latin typeface="Segoe UI"/>
                        </a:defRPr>
                      </a:pPr>
                      <a:r>
                        <a:t>Validated 42 authentic documents; correctly blocked disguised payload</a:t>
                      </a:r>
                    </a:p>
                  </a:txBody>
                  <a:tcPr>
                    <a:solidFill>
                      <a:srgbClr val="101018"/>
                    </a:solidFill>
                  </a:tcPr>
                </a:tc>
                <a:tc>
                  <a:txBody>
                    <a:bodyPr/>
                    <a:lstStyle/>
                    <a:p>
                      <a:pPr algn="ctr">
                        <a:defRPr sz="900" b="1">
                          <a:solidFill>
                            <a:srgbClr val="10B981"/>
                          </a:solidFill>
                          <a:latin typeface="Segoe UI"/>
                        </a:defRPr>
                      </a:pPr>
                      <a:r>
                        <a:t>PASSED</a:t>
                      </a:r>
                    </a:p>
                  </a:txBody>
                  <a:tcPr>
                    <a:solidFill>
                      <a:srgbClr val="101018"/>
                    </a:solidFill>
                  </a:tcPr>
                </a:tc>
              </a:tr>
              <a:tr h="548640">
                <a:tc>
                  <a:txBody>
                    <a:bodyPr/>
                    <a:lstStyle/>
                    <a:p>
                      <a:pPr>
                        <a:defRPr sz="900" b="1">
                          <a:solidFill>
                            <a:srgbClr val="FFFFFF"/>
                          </a:solidFill>
                          <a:latin typeface="Segoe UI"/>
                        </a:defRPr>
                      </a:pPr>
                      <a:r>
                        <a:t>Cryptographic Integrity Check</a:t>
                      </a:r>
                    </a:p>
                  </a:txBody>
                  <a:tcPr>
                    <a:solidFill>
                      <a:srgbClr val="0C0C12"/>
                    </a:solidFill>
                  </a:tcPr>
                </a:tc>
                <a:tc>
                  <a:txBody>
                    <a:bodyPr/>
                    <a:lstStyle/>
                    <a:p>
                      <a:pPr>
                        <a:defRPr sz="900">
                          <a:solidFill>
                            <a:srgbClr val="CBD5E1"/>
                          </a:solidFill>
                          <a:latin typeface="Segoe UI"/>
                        </a:defRPr>
                      </a:pPr>
                      <a:r>
                        <a:t>Execute full integrity scan across stored documents</a:t>
                      </a:r>
                    </a:p>
                  </a:txBody>
                  <a:tcPr>
                    <a:solidFill>
                      <a:srgbClr val="0C0C12"/>
                    </a:solidFill>
                  </a:tcPr>
                </a:tc>
                <a:tc>
                  <a:txBody>
                    <a:bodyPr/>
                    <a:lstStyle/>
                    <a:p>
                      <a:pPr>
                        <a:defRPr sz="900">
                          <a:solidFill>
                            <a:srgbClr val="CBD5E1"/>
                          </a:solidFill>
                          <a:latin typeface="Segoe UI"/>
                        </a:defRPr>
                      </a:pPr>
                      <a:r>
                        <a:t>Live SHA-256 hashes match stored MongoDB database digests</a:t>
                      </a:r>
                    </a:p>
                  </a:txBody>
                  <a:tcPr>
                    <a:solidFill>
                      <a:srgbClr val="0C0C12"/>
                    </a:solidFill>
                  </a:tcPr>
                </a:tc>
                <a:tc>
                  <a:txBody>
                    <a:bodyPr/>
                    <a:lstStyle/>
                    <a:p>
                      <a:pPr>
                        <a:defRPr sz="900">
                          <a:solidFill>
                            <a:srgbClr val="CBD5E1"/>
                          </a:solidFill>
                          <a:latin typeface="Segoe UI"/>
                        </a:defRPr>
                      </a:pPr>
                      <a:r>
                        <a:t>42/42 hashes verified authentic; 100/100 health score maintained</a:t>
                      </a:r>
                    </a:p>
                  </a:txBody>
                  <a:tcPr>
                    <a:solidFill>
                      <a:srgbClr val="0C0C12"/>
                    </a:solidFill>
                  </a:tcPr>
                </a:tc>
                <a:tc>
                  <a:txBody>
                    <a:bodyPr/>
                    <a:lstStyle/>
                    <a:p>
                      <a:pPr algn="ctr">
                        <a:defRPr sz="900" b="1">
                          <a:solidFill>
                            <a:srgbClr val="10B981"/>
                          </a:solidFill>
                          <a:latin typeface="Segoe UI"/>
                        </a:defRPr>
                      </a:pPr>
                      <a:r>
                        <a:t>PASSED</a:t>
                      </a:r>
                    </a:p>
                  </a:txBody>
                  <a:tcPr>
                    <a:solidFill>
                      <a:srgbClr val="0C0C12"/>
                    </a:solidFill>
                  </a:tcPr>
                </a:tc>
              </a:tr>
              <a:tr h="548640">
                <a:tc>
                  <a:txBody>
                    <a:bodyPr/>
                    <a:lstStyle/>
                    <a:p>
                      <a:pPr>
                        <a:defRPr sz="900" b="1">
                          <a:solidFill>
                            <a:srgbClr val="FFFFFF"/>
                          </a:solidFill>
                          <a:latin typeface="Segoe UI"/>
                        </a:defRPr>
                      </a:pPr>
                      <a:r>
                        <a:t>Explainable AI Vector Search</a:t>
                      </a:r>
                    </a:p>
                  </a:txBody>
                  <a:tcPr>
                    <a:solidFill>
                      <a:srgbClr val="101018"/>
                    </a:solidFill>
                  </a:tcPr>
                </a:tc>
                <a:tc>
                  <a:txBody>
                    <a:bodyPr/>
                    <a:lstStyle/>
                    <a:p>
                      <a:pPr>
                        <a:defRPr sz="900">
                          <a:solidFill>
                            <a:srgbClr val="CBD5E1"/>
                          </a:solidFill>
                          <a:latin typeface="Segoe UI"/>
                        </a:defRPr>
                      </a:pPr>
                      <a:r>
                        <a:t>Submit query: 'What is the governing law of the agreement?'</a:t>
                      </a:r>
                    </a:p>
                  </a:txBody>
                  <a:tcPr>
                    <a:solidFill>
                      <a:srgbClr val="101018"/>
                    </a:solidFill>
                  </a:tcPr>
                </a:tc>
                <a:tc>
                  <a:txBody>
                    <a:bodyPr/>
                    <a:lstStyle/>
                    <a:p>
                      <a:pPr>
                        <a:defRPr sz="900">
                          <a:solidFill>
                            <a:srgbClr val="CBD5E1"/>
                          </a:solidFill>
                          <a:latin typeface="Segoe UI"/>
                        </a:defRPr>
                      </a:pPr>
                      <a:r>
                        <a:t>TF-IDF cosine similarity retrieves relevant passage with citations</a:t>
                      </a:r>
                    </a:p>
                  </a:txBody>
                  <a:tcPr>
                    <a:solidFill>
                      <a:srgbClr val="101018"/>
                    </a:solidFill>
                  </a:tcPr>
                </a:tc>
                <a:tc>
                  <a:txBody>
                    <a:bodyPr/>
                    <a:lstStyle/>
                    <a:p>
                      <a:pPr>
                        <a:defRPr sz="900">
                          <a:solidFill>
                            <a:srgbClr val="CBD5E1"/>
                          </a:solidFill>
                          <a:latin typeface="Segoe UI"/>
                        </a:defRPr>
                      </a:pPr>
                      <a:r>
                        <a:t>Returned 'State of Delaware' clause with Mutual_NDA.pdf page 1 citation</a:t>
                      </a:r>
                    </a:p>
                  </a:txBody>
                  <a:tcPr>
                    <a:solidFill>
                      <a:srgbClr val="101018"/>
                    </a:solidFill>
                  </a:tcPr>
                </a:tc>
                <a:tc>
                  <a:txBody>
                    <a:bodyPr/>
                    <a:lstStyle/>
                    <a:p>
                      <a:pPr algn="ctr">
                        <a:defRPr sz="900" b="1">
                          <a:solidFill>
                            <a:srgbClr val="10B981"/>
                          </a:solidFill>
                          <a:latin typeface="Segoe UI"/>
                        </a:defRPr>
                      </a:pPr>
                      <a:r>
                        <a:t>PASSED</a:t>
                      </a:r>
                    </a:p>
                  </a:txBody>
                  <a:tcPr>
                    <a:solidFill>
                      <a:srgbClr val="101018"/>
                    </a:solidFill>
                  </a:tcPr>
                </a:tc>
              </a:tr>
              <a:tr h="548640">
                <a:tc>
                  <a:txBody>
                    <a:bodyPr/>
                    <a:lstStyle/>
                    <a:p>
                      <a:pPr>
                        <a:defRPr sz="900" b="1">
                          <a:solidFill>
                            <a:srgbClr val="FFFFFF"/>
                          </a:solidFill>
                          <a:latin typeface="Segoe UI"/>
                        </a:defRPr>
                      </a:pPr>
                      <a:r>
                        <a:t>Duplicate &amp; Near-Duplicate Check</a:t>
                      </a:r>
                    </a:p>
                  </a:txBody>
                  <a:tcPr>
                    <a:solidFill>
                      <a:srgbClr val="0C0C12"/>
                    </a:solidFill>
                  </a:tcPr>
                </a:tc>
                <a:tc>
                  <a:txBody>
                    <a:bodyPr/>
                    <a:lstStyle/>
                    <a:p>
                      <a:pPr>
                        <a:defRPr sz="900">
                          <a:solidFill>
                            <a:srgbClr val="CBD5E1"/>
                          </a:solidFill>
                          <a:latin typeface="Segoe UI"/>
                        </a:defRPr>
                      </a:pPr>
                      <a:r>
                        <a:t>Ingest exact copy and slightly edited revision of existing doc</a:t>
                      </a:r>
                    </a:p>
                  </a:txBody>
                  <a:tcPr>
                    <a:solidFill>
                      <a:srgbClr val="0C0C12"/>
                    </a:solidFill>
                  </a:tcPr>
                </a:tc>
                <a:tc>
                  <a:txBody>
                    <a:bodyPr/>
                    <a:lstStyle/>
                    <a:p>
                      <a:pPr>
                        <a:defRPr sz="900">
                          <a:solidFill>
                            <a:srgbClr val="CBD5E1"/>
                          </a:solidFill>
                          <a:latin typeface="Segoe UI"/>
                        </a:defRPr>
                      </a:pPr>
                      <a:r>
                        <a:t>Zero-overhead hash match flags exact duplicate; difflib rates similarity</a:t>
                      </a:r>
                    </a:p>
                  </a:txBody>
                  <a:tcPr>
                    <a:solidFill>
                      <a:srgbClr val="0C0C12"/>
                    </a:solidFill>
                  </a:tcPr>
                </a:tc>
                <a:tc>
                  <a:txBody>
                    <a:bodyPr/>
                    <a:lstStyle/>
                    <a:p>
                      <a:pPr>
                        <a:defRPr sz="900">
                          <a:solidFill>
                            <a:srgbClr val="CBD5E1"/>
                          </a:solidFill>
                          <a:latin typeface="Segoe UI"/>
                        </a:defRPr>
                      </a:pPr>
                      <a:r>
                        <a:t>Identified exact duplicate via SHA-256; flagged 94% text similarity</a:t>
                      </a:r>
                    </a:p>
                  </a:txBody>
                  <a:tcPr>
                    <a:solidFill>
                      <a:srgbClr val="0C0C12"/>
                    </a:solidFill>
                  </a:tcPr>
                </a:tc>
                <a:tc>
                  <a:txBody>
                    <a:bodyPr/>
                    <a:lstStyle/>
                    <a:p>
                      <a:pPr algn="ctr">
                        <a:defRPr sz="900" b="1">
                          <a:solidFill>
                            <a:srgbClr val="10B981"/>
                          </a:solidFill>
                          <a:latin typeface="Segoe UI"/>
                        </a:defRPr>
                      </a:pPr>
                      <a:r>
                        <a:t>PASSED</a:t>
                      </a:r>
                    </a:p>
                  </a:txBody>
                  <a:tcPr>
                    <a:solidFill>
                      <a:srgbClr val="0C0C12"/>
                    </a:solidFill>
                  </a:tcPr>
                </a:tc>
              </a:tr>
              <a:tr h="548640">
                <a:tc>
                  <a:txBody>
                    <a:bodyPr/>
                    <a:lstStyle/>
                    <a:p>
                      <a:pPr>
                        <a:defRPr sz="900" b="1">
                          <a:solidFill>
                            <a:srgbClr val="FFFFFF"/>
                          </a:solidFill>
                          <a:latin typeface="Segoe UI"/>
                        </a:defRPr>
                      </a:pPr>
                      <a:r>
                        <a:t>Activity Audit Trail &amp; Export</a:t>
                      </a:r>
                    </a:p>
                  </a:txBody>
                  <a:tcPr>
                    <a:solidFill>
                      <a:srgbClr val="101018"/>
                    </a:solidFill>
                  </a:tcPr>
                </a:tc>
                <a:tc>
                  <a:txBody>
                    <a:bodyPr/>
                    <a:lstStyle/>
                    <a:p>
                      <a:pPr>
                        <a:defRPr sz="900">
                          <a:solidFill>
                            <a:srgbClr val="CBD5E1"/>
                          </a:solidFill>
                          <a:latin typeface="Segoe UI"/>
                        </a:defRPr>
                      </a:pPr>
                      <a:r>
                        <a:t>Perform file ingestion, view document, and export session log</a:t>
                      </a:r>
                    </a:p>
                  </a:txBody>
                  <a:tcPr>
                    <a:solidFill>
                      <a:srgbClr val="101018"/>
                    </a:solidFill>
                  </a:tcPr>
                </a:tc>
                <a:tc>
                  <a:txBody>
                    <a:bodyPr/>
                    <a:lstStyle/>
                    <a:p>
                      <a:pPr>
                        <a:defRPr sz="900">
                          <a:solidFill>
                            <a:srgbClr val="CBD5E1"/>
                          </a:solidFill>
                          <a:latin typeface="Segoe UI"/>
                        </a:defRPr>
                      </a:pPr>
                      <a:r>
                        <a:t>Events logged with timestamp, user session, and operation type to CSV</a:t>
                      </a:r>
                    </a:p>
                  </a:txBody>
                  <a:tcPr>
                    <a:solidFill>
                      <a:srgbClr val="101018"/>
                    </a:solidFill>
                  </a:tcPr>
                </a:tc>
                <a:tc>
                  <a:txBody>
                    <a:bodyPr/>
                    <a:lstStyle/>
                    <a:p>
                      <a:pPr>
                        <a:defRPr sz="900">
                          <a:solidFill>
                            <a:srgbClr val="CBD5E1"/>
                          </a:solidFill>
                          <a:latin typeface="Segoe UI"/>
                        </a:defRPr>
                      </a:pPr>
                      <a:r>
                        <a:t>All events recorded chronologically; successfully exported audit CSV</a:t>
                      </a:r>
                    </a:p>
                  </a:txBody>
                  <a:tcPr>
                    <a:solidFill>
                      <a:srgbClr val="101018"/>
                    </a:solidFill>
                  </a:tcPr>
                </a:tc>
                <a:tc>
                  <a:txBody>
                    <a:bodyPr/>
                    <a:lstStyle/>
                    <a:p>
                      <a:pPr algn="ctr">
                        <a:defRPr sz="900" b="1">
                          <a:solidFill>
                            <a:srgbClr val="10B981"/>
                          </a:solidFill>
                          <a:latin typeface="Segoe UI"/>
                        </a:defRPr>
                      </a:pPr>
                      <a:r>
                        <a:t>PASSED</a:t>
                      </a:r>
                    </a:p>
                  </a:txBody>
                  <a:tcPr>
                    <a:solidFill>
                      <a:srgbClr val="101018"/>
                    </a:solidFill>
                  </a:tcPr>
                </a:tc>
              </a:tr>
            </a:tbl>
          </a:graphicData>
        </a:graphic>
      </p:graphicFrame>
      <p:sp>
        <p:nvSpPr>
          <p:cNvPr id="8" name="Rectangle 7"/>
          <p:cNvSpPr/>
          <p:nvPr/>
        </p:nvSpPr>
        <p:spPr>
          <a:xfrm>
            <a:off x="914400" y="5303520"/>
            <a:ext cx="10362895" cy="13716"/>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394960"/>
            <a:ext cx="10271455" cy="685800"/>
          </a:xfrm>
          <a:prstGeom prst="rect">
            <a:avLst/>
          </a:prstGeom>
          <a:noFill/>
        </p:spPr>
        <p:txBody>
          <a:bodyPr wrap="square" lIns="0" rIns="0" tIns="0" bIns="0">
            <a:spAutoFit/>
          </a:bodyPr>
          <a:lstStyle/>
          <a:p>
            <a:pPr>
              <a:defRPr sz="950" b="1">
                <a:solidFill>
                  <a:srgbClr val="FF7A2E"/>
                </a:solidFill>
                <a:latin typeface="Segoe UI"/>
              </a:defRPr>
            </a:pPr>
            <a:r>
              <a:t>SECTION 8.2 RESULTS SUMMARY &amp; VERIFICATION FINDINGS</a:t>
            </a:r>
          </a:p>
          <a:p>
            <a:pPr>
              <a:defRPr sz="900">
                <a:solidFill>
                  <a:srgbClr val="CBD5E1"/>
                </a:solidFill>
                <a:latin typeface="Segoe UI"/>
              </a:defRPr>
            </a:pPr>
            <a:r>
              <a:t>During live project evaluation, the system successfully demonstrated continuous document workspace management, cryptographic health verification, and granular activity monitoring. The test corpus of 42 authentic documents was processed with zero unhandled exceptions under Python 3.12, maintaining a 100/100 health score with zero false-positive warnings.</a:t>
            </a:r>
          </a:p>
        </p:txBody>
      </p:sp>
      <p:sp>
        <p:nvSpPr>
          <p:cNvPr id="10" name="Rectangle 9"/>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12" name="TextBox 11"/>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13" name="TextBox 12"/>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47472"/>
            <a:ext cx="2926080" cy="274320"/>
          </a:xfrm>
          <a:prstGeom prst="roundRect">
            <a:avLst/>
          </a:prstGeom>
          <a:solidFill>
            <a:srgbClr val="2B160C"/>
          </a:solidFill>
          <a:ln w="12700">
            <a:solidFill>
              <a:srgbClr val="FF7A2E"/>
            </a:solidFill>
          </a:ln>
        </p:spPr>
        <p:style>
          <a:lnRef idx="1">
            <a:schemeClr val="accent1"/>
          </a:lnRef>
          <a:fillRef idx="3">
            <a:schemeClr val="accent1"/>
          </a:fillRef>
          <a:effectRef idx="2">
            <a:schemeClr val="accent1"/>
          </a:effectRef>
          <a:fontRef idx="minor">
            <a:schemeClr val="lt1"/>
          </a:fontRef>
        </p:style>
        <p:txBody>
          <a:bodyPr rtlCol="0" anchor="ctr" wrap="none" lIns="109728" tIns="9144"/>
          <a:lstStyle/>
          <a:p>
            <a:pPr algn="ctr">
              <a:defRPr sz="900" b="1">
                <a:solidFill>
                  <a:srgbClr val="FF7A2E"/>
                </a:solidFill>
                <a:latin typeface="Segoe UI"/>
              </a:defRPr>
            </a:pPr>
            <a:r>
              <a:t>11 / SUMMARY &amp; ROADMAP</a:t>
            </a:r>
          </a:p>
        </p:txBody>
      </p:sp>
      <p:sp>
        <p:nvSpPr>
          <p:cNvPr id="5" name="TextBox 4"/>
          <p:cNvSpPr txBox="1"/>
          <p:nvPr/>
        </p:nvSpPr>
        <p:spPr>
          <a:xfrm>
            <a:off x="713232" y="658368"/>
            <a:ext cx="10789920" cy="868680"/>
          </a:xfrm>
          <a:prstGeom prst="rect">
            <a:avLst/>
          </a:prstGeom>
          <a:noFill/>
        </p:spPr>
        <p:txBody>
          <a:bodyPr wrap="square" lIns="0" tIns="0">
            <a:spAutoFit/>
          </a:bodyPr>
          <a:lstStyle/>
          <a:p>
            <a:pPr>
              <a:defRPr sz="2300" b="1">
                <a:solidFill>
                  <a:srgbClr val="FFFFFF"/>
                </a:solidFill>
                <a:latin typeface="Segoe UI"/>
              </a:defRPr>
            </a:pPr>
            <a:r>
              <a:t>Conclusion, Project Limitations &amp; Future Roadmap</a:t>
            </a:r>
          </a:p>
          <a:p>
            <a:pPr>
              <a:defRPr sz="1150">
                <a:solidFill>
                  <a:srgbClr val="94A3B8"/>
                </a:solidFill>
                <a:latin typeface="Segoe UI"/>
              </a:defRPr>
            </a:pPr>
            <a:r>
              <a:t>Synthesizing key engineering outcomes, practical operational boundaries, and future research vectors.</a:t>
            </a:r>
          </a:p>
        </p:txBody>
      </p:sp>
      <p:sp>
        <p:nvSpPr>
          <p:cNvPr id="6" name="Rounded Rectangle 5"/>
          <p:cNvSpPr/>
          <p:nvPr/>
        </p:nvSpPr>
        <p:spPr>
          <a:xfrm>
            <a:off x="731520" y="1691640"/>
            <a:ext cx="10728655" cy="448056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07738" y="1691640"/>
            <a:ext cx="13716" cy="448056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83956" y="1691640"/>
            <a:ext cx="13716" cy="448056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28800"/>
            <a:ext cx="3210458" cy="4206240"/>
          </a:xfrm>
          <a:prstGeom prst="rect">
            <a:avLst/>
          </a:prstGeom>
          <a:noFill/>
        </p:spPr>
        <p:txBody>
          <a:bodyPr wrap="square" lIns="0" rIns="0" tIns="0" bIns="0">
            <a:spAutoFit/>
          </a:bodyPr>
          <a:lstStyle/>
          <a:p>
            <a:pPr>
              <a:defRPr sz="950" b="1">
                <a:solidFill>
                  <a:srgbClr val="FF7A2E"/>
                </a:solidFill>
                <a:latin typeface="Segoe UI"/>
              </a:defRPr>
            </a:pPr>
            <a:r>
              <a:t>01 / CONCLUSION</a:t>
            </a:r>
          </a:p>
          <a:p>
            <a:pPr>
              <a:defRPr sz="1400" b="1">
                <a:solidFill>
                  <a:srgbClr val="FFFFFF"/>
                </a:solidFill>
                <a:latin typeface="Segoe UI"/>
              </a:defRPr>
            </a:pPr>
            <a:r>
              <a:t>Project Conclusion</a:t>
            </a:r>
          </a:p>
          <a:p>
            <a:pPr>
              <a:defRPr sz="800">
                <a:solidFill>
                  <a:srgbClr val="232330"/>
                </a:solidFill>
                <a:latin typeface="Segoe UI"/>
              </a:defRPr>
            </a:pPr>
            <a:r>
              <a:t>————————————————————————</a:t>
            </a:r>
          </a:p>
          <a:p>
            <a:pPr>
              <a:defRPr sz="950">
                <a:solidFill>
                  <a:srgbClr val="CBD5E1"/>
                </a:solidFill>
                <a:latin typeface="Segoe UI"/>
              </a:defRPr>
            </a:pPr>
            <a:r>
              <a:t>•  DocuVault successfully combines cryptographic file validation, automated classification, and explainable TF-IDF AI retrieval into a cohesive Python application.</a:t>
            </a:r>
          </a:p>
          <a:p>
            <a:pPr>
              <a:defRPr sz="950">
                <a:solidFill>
                  <a:srgbClr val="CBD5E1"/>
                </a:solidFill>
                <a:latin typeface="Segoe UI"/>
              </a:defRPr>
            </a:pPr>
            <a:r>
              <a:t>•  Bridges document security with accessible, citation-grounded intelligence.</a:t>
            </a:r>
          </a:p>
          <a:p>
            <a:pPr>
              <a:defRPr sz="950">
                <a:solidFill>
                  <a:srgbClr val="CBD5E1"/>
                </a:solidFill>
                <a:latin typeface="Segoe UI"/>
              </a:defRPr>
            </a:pPr>
            <a:r>
              <a:t>•  Directly advances SDG 16 (Peace, Justice &amp; Strong Institutions) by promoting tamper-proof record keeping and accountable governance.</a:t>
            </a:r>
          </a:p>
          <a:p>
            <a:pPr>
              <a:defRPr sz="950">
                <a:solidFill>
                  <a:srgbClr val="CBD5E1"/>
                </a:solidFill>
                <a:latin typeface="Segoe UI"/>
              </a:defRPr>
            </a:pPr>
            <a:r>
              <a:t>•  Successfully validates the modular 5-tier architecture across live demonstrations.</a:t>
            </a:r>
          </a:p>
        </p:txBody>
      </p:sp>
      <p:sp>
        <p:nvSpPr>
          <p:cNvPr id="10" name="TextBox 9"/>
          <p:cNvSpPr txBox="1"/>
          <p:nvPr/>
        </p:nvSpPr>
        <p:spPr>
          <a:xfrm>
            <a:off x="4490618" y="1828800"/>
            <a:ext cx="3210458" cy="4206240"/>
          </a:xfrm>
          <a:prstGeom prst="rect">
            <a:avLst/>
          </a:prstGeom>
          <a:noFill/>
        </p:spPr>
        <p:txBody>
          <a:bodyPr wrap="square" lIns="0" rIns="0" tIns="0" bIns="0">
            <a:spAutoFit/>
          </a:bodyPr>
          <a:lstStyle/>
          <a:p>
            <a:pPr>
              <a:defRPr sz="950" b="1">
                <a:solidFill>
                  <a:srgbClr val="3B82F6"/>
                </a:solidFill>
                <a:latin typeface="Segoe UI"/>
              </a:defRPr>
            </a:pPr>
            <a:r>
              <a:t>02 / LIMITATIONS</a:t>
            </a:r>
          </a:p>
          <a:p>
            <a:pPr>
              <a:defRPr sz="1400" b="1">
                <a:solidFill>
                  <a:srgbClr val="FFFFFF"/>
                </a:solidFill>
                <a:latin typeface="Segoe UI"/>
              </a:defRPr>
            </a:pPr>
            <a:r>
              <a:t>Technical Limitations</a:t>
            </a:r>
          </a:p>
          <a:p>
            <a:pPr>
              <a:defRPr sz="800">
                <a:solidFill>
                  <a:srgbClr val="232330"/>
                </a:solidFill>
                <a:latin typeface="Segoe UI"/>
              </a:defRPr>
            </a:pPr>
            <a:r>
              <a:t>————————————————————————</a:t>
            </a:r>
          </a:p>
          <a:p>
            <a:pPr>
              <a:defRPr sz="950">
                <a:solidFill>
                  <a:srgbClr val="CBD5E1"/>
                </a:solidFill>
                <a:latin typeface="Segoe UI"/>
              </a:defRPr>
            </a:pPr>
            <a:r>
              <a:t>•  Identified real-world constraints for transparent academic reporting:</a:t>
            </a:r>
          </a:p>
          <a:p>
            <a:pPr>
              <a:defRPr sz="950">
                <a:solidFill>
                  <a:srgbClr val="CBD5E1"/>
                </a:solidFill>
                <a:latin typeface="Segoe UI"/>
              </a:defRPr>
            </a:pPr>
            <a:r>
              <a:t>•  OCR Variance: Text extraction accuracy may degrade on low-resolution, blurred, or degraded scanned documents.</a:t>
            </a:r>
          </a:p>
          <a:p>
            <a:pPr>
              <a:defRPr sz="950">
                <a:solidFill>
                  <a:srgbClr val="CBD5E1"/>
                </a:solidFill>
                <a:latin typeface="Segoe UI"/>
              </a:defRPr>
            </a:pPr>
            <a:r>
              <a:t>•  Similarity Thresholds: Near-duplicate detection requires manual calibration depending on document genre.</a:t>
            </a:r>
          </a:p>
          <a:p>
            <a:pPr>
              <a:defRPr sz="950">
                <a:solidFill>
                  <a:srgbClr val="CBD5E1"/>
                </a:solidFill>
                <a:latin typeface="Segoe UI"/>
              </a:defRPr>
            </a:pPr>
            <a:r>
              <a:t>•  Offline Scope: Advanced cloud mirroring and subscription features are gated in demonstration mode.</a:t>
            </a:r>
          </a:p>
        </p:txBody>
      </p:sp>
      <p:sp>
        <p:nvSpPr>
          <p:cNvPr id="11" name="TextBox 10"/>
          <p:cNvSpPr txBox="1"/>
          <p:nvPr/>
        </p:nvSpPr>
        <p:spPr>
          <a:xfrm>
            <a:off x="8066836" y="1828800"/>
            <a:ext cx="3210458" cy="4206240"/>
          </a:xfrm>
          <a:prstGeom prst="rect">
            <a:avLst/>
          </a:prstGeom>
          <a:noFill/>
        </p:spPr>
        <p:txBody>
          <a:bodyPr wrap="square" lIns="0" rIns="0" tIns="0" bIns="0">
            <a:spAutoFit/>
          </a:bodyPr>
          <a:lstStyle/>
          <a:p>
            <a:pPr>
              <a:defRPr sz="950" b="1">
                <a:solidFill>
                  <a:srgbClr val="10B981"/>
                </a:solidFill>
                <a:latin typeface="Segoe UI"/>
              </a:defRPr>
            </a:pPr>
            <a:r>
              <a:t>03 / ROADMAP</a:t>
            </a:r>
          </a:p>
          <a:p>
            <a:pPr>
              <a:defRPr sz="1400" b="1">
                <a:solidFill>
                  <a:srgbClr val="FFFFFF"/>
                </a:solidFill>
                <a:latin typeface="Segoe UI"/>
              </a:defRPr>
            </a:pPr>
            <a:r>
              <a:t>Future Engineering Roadmap</a:t>
            </a:r>
          </a:p>
          <a:p>
            <a:pPr>
              <a:defRPr sz="800">
                <a:solidFill>
                  <a:srgbClr val="232330"/>
                </a:solidFill>
                <a:latin typeface="Segoe UI"/>
              </a:defRPr>
            </a:pPr>
            <a:r>
              <a:t>————————————————————————</a:t>
            </a:r>
          </a:p>
          <a:p>
            <a:pPr>
              <a:defRPr sz="950">
                <a:solidFill>
                  <a:srgbClr val="CBD5E1"/>
                </a:solidFill>
                <a:latin typeface="Segoe UI"/>
              </a:defRPr>
            </a:pPr>
            <a:r>
              <a:t>•  Strategic enhancements planned for subsequent development iterations:</a:t>
            </a:r>
          </a:p>
          <a:p>
            <a:pPr>
              <a:defRPr sz="950">
                <a:solidFill>
                  <a:srgbClr val="CBD5E1"/>
                </a:solidFill>
                <a:latin typeface="Segoe UI"/>
              </a:defRPr>
            </a:pPr>
            <a:r>
              <a:t>•  Transformer OCR: Integrate multi-modal vision models (TrOCR / Donut) for handwritten manuscripts.</a:t>
            </a:r>
          </a:p>
          <a:p>
            <a:pPr>
              <a:defRPr sz="950">
                <a:solidFill>
                  <a:srgbClr val="CBD5E1"/>
                </a:solidFill>
                <a:latin typeface="Segoe UI"/>
              </a:defRPr>
            </a:pPr>
            <a:r>
              <a:t>•  Mobile Companion: Cross-platform Flutter / React Native client syncing via Flask REST APIs.</a:t>
            </a:r>
          </a:p>
          <a:p>
            <a:pPr>
              <a:defRPr sz="950">
                <a:solidFill>
                  <a:srgbClr val="CBD5E1"/>
                </a:solidFill>
                <a:latin typeface="Segoe UI"/>
              </a:defRPr>
            </a:pPr>
            <a:r>
              <a:t>•  Multi-Tenant RBAC: Role-based access control with Keycloak enterprise federation.</a:t>
            </a:r>
          </a:p>
          <a:p>
            <a:pPr>
              <a:defRPr sz="950">
                <a:solidFill>
                  <a:srgbClr val="CBD5E1"/>
                </a:solidFill>
                <a:latin typeface="Segoe UI"/>
              </a:defRPr>
            </a:pPr>
            <a:r>
              <a:t>•  Blockchain Notarization: Decentralized smart contract hashing for cross-institutional legal proof.</a:t>
            </a:r>
          </a:p>
        </p:txBody>
      </p:sp>
      <p:sp>
        <p:nvSpPr>
          <p:cNvPr id="12" name="Rectangle 11"/>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14" name="TextBox 13"/>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15" name="TextBox 14"/>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FF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731520" y="731520"/>
            <a:ext cx="777240" cy="777240"/>
          </a:xfrm>
          <a:prstGeom prst="rect">
            <a:avLst/>
          </a:prstGeom>
        </p:spPr>
      </p:pic>
      <p:sp>
        <p:nvSpPr>
          <p:cNvPr id="5" name="TextBox 4"/>
          <p:cNvSpPr txBox="1"/>
          <p:nvPr/>
        </p:nvSpPr>
        <p:spPr>
          <a:xfrm>
            <a:off x="1691640" y="685800"/>
            <a:ext cx="9601200" cy="1097280"/>
          </a:xfrm>
          <a:prstGeom prst="rect">
            <a:avLst/>
          </a:prstGeom>
          <a:noFill/>
        </p:spPr>
        <p:txBody>
          <a:bodyPr wrap="none">
            <a:spAutoFit/>
          </a:bodyPr>
          <a:lstStyle/>
          <a:p>
            <a:pPr>
              <a:defRPr sz="2800" b="1">
                <a:solidFill>
                  <a:srgbClr val="FFFFFF"/>
                </a:solidFill>
                <a:latin typeface="Segoe UI"/>
              </a:defRPr>
            </a:pPr>
            <a:r>
              <a:t>DocuVault — Demonstration Complete</a:t>
            </a:r>
          </a:p>
          <a:p>
            <a:pPr>
              <a:defRPr sz="1300" b="1">
                <a:solidFill>
                  <a:srgbClr val="FF7A2E"/>
                </a:solidFill>
                <a:latin typeface="Segoe UI"/>
              </a:defRPr>
            </a:pPr>
            <a:r>
              <a:t>Questions &amp; Technical Discussion • Christ University Pune, Lavasa</a:t>
            </a:r>
          </a:p>
        </p:txBody>
      </p:sp>
      <p:sp>
        <p:nvSpPr>
          <p:cNvPr id="6" name="Rounded Rectangle 5"/>
          <p:cNvSpPr/>
          <p:nvPr/>
        </p:nvSpPr>
        <p:spPr>
          <a:xfrm>
            <a:off x="731520" y="1920240"/>
            <a:ext cx="10728655" cy="4251960"/>
          </a:xfrm>
          <a:prstGeom prst="roundRect">
            <a:avLst/>
          </a:prstGeom>
          <a:solidFill>
            <a:srgbClr val="0E0E14"/>
          </a:solidFill>
          <a:ln w="12700">
            <a:solidFill>
              <a:srgbClr val="2323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847" y="1920240"/>
            <a:ext cx="13716" cy="4251960"/>
          </a:xfrm>
          <a:prstGeom prst="rect">
            <a:avLst/>
          </a:prstGeom>
          <a:solidFill>
            <a:srgbClr val="2626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103120"/>
            <a:ext cx="4861407" cy="3886200"/>
          </a:xfrm>
          <a:prstGeom prst="rect">
            <a:avLst/>
          </a:prstGeom>
          <a:noFill/>
        </p:spPr>
        <p:txBody>
          <a:bodyPr wrap="square" lIns="0" rIns="0" tIns="0" bIns="0">
            <a:spAutoFit/>
          </a:bodyPr>
          <a:lstStyle/>
          <a:p>
            <a:pPr>
              <a:defRPr sz="1100" b="1">
                <a:solidFill>
                  <a:srgbClr val="FF7A2E"/>
                </a:solidFill>
                <a:latin typeface="Segoe UI"/>
              </a:defRPr>
            </a:pPr>
            <a:r>
              <a:t>KEY PROJECT ACHIEVEMENTS</a:t>
            </a:r>
          </a:p>
          <a:p>
            <a:pPr>
              <a:defRPr sz="1000">
                <a:solidFill>
                  <a:srgbClr val="CBD5E1"/>
                </a:solidFill>
                <a:latin typeface="Segoe UI"/>
              </a:defRPr>
            </a:pPr>
            <a:r>
              <a:t>✓  100% Cryptographic Health: SHA-256 fingerprinting baseline across 42 files with 0 tampering.</a:t>
            </a:r>
          </a:p>
          <a:p>
            <a:pPr>
              <a:defRPr sz="1000">
                <a:solidFill>
                  <a:srgbClr val="CBD5E1"/>
                </a:solidFill>
                <a:latin typeface="Segoe UI"/>
              </a:defRPr>
            </a:pPr>
            <a:r>
              <a:t>✓  Air-Gapped Vector Retrieval: In-memory TF-IDF sparse matrix with 0.12 s query latency.</a:t>
            </a:r>
          </a:p>
          <a:p>
            <a:pPr>
              <a:defRPr sz="1000">
                <a:solidFill>
                  <a:srgbClr val="CBD5E1"/>
                </a:solidFill>
                <a:latin typeface="Segoe UI"/>
              </a:defRPr>
            </a:pPr>
            <a:r>
              <a:t>✓  Verifiable Source Attribution: Every answer paired with exact document title and page number.</a:t>
            </a:r>
          </a:p>
          <a:p>
            <a:pPr>
              <a:defRPr sz="1000">
                <a:solidFill>
                  <a:srgbClr val="CBD5E1"/>
                </a:solidFill>
                <a:latin typeface="Segoe UI"/>
              </a:defRPr>
            </a:pPr>
            <a:r>
              <a:t>✓  Proactive Governance: Public-holiday deadline shifting engine and regex PII redaction.</a:t>
            </a:r>
          </a:p>
          <a:p>
            <a:pPr>
              <a:defRPr sz="1000">
                <a:solidFill>
                  <a:srgbClr val="CBD5E1"/>
                </a:solidFill>
                <a:latin typeface="Segoe UI"/>
              </a:defRPr>
            </a:pPr>
            <a:r>
              <a:t>✓  Full Curriculum Synthesis: Concrete implementations across Units 1–5 of Advanced Python.</a:t>
            </a:r>
          </a:p>
        </p:txBody>
      </p:sp>
      <p:sp>
        <p:nvSpPr>
          <p:cNvPr id="9" name="TextBox 8"/>
          <p:cNvSpPr txBox="1"/>
          <p:nvPr/>
        </p:nvSpPr>
        <p:spPr>
          <a:xfrm>
            <a:off x="6370167" y="2103120"/>
            <a:ext cx="4861407" cy="3886200"/>
          </a:xfrm>
          <a:prstGeom prst="rect">
            <a:avLst/>
          </a:prstGeom>
          <a:noFill/>
        </p:spPr>
        <p:txBody>
          <a:bodyPr wrap="square" lIns="0" rIns="0" tIns="0" bIns="0">
            <a:spAutoFit/>
          </a:bodyPr>
          <a:lstStyle/>
          <a:p>
            <a:pPr>
              <a:defRPr sz="1100" b="1">
                <a:solidFill>
                  <a:srgbClr val="FF7A2E"/>
                </a:solidFill>
                <a:latin typeface="Segoe UI"/>
              </a:defRPr>
            </a:pPr>
            <a:r>
              <a:t>REPOSITORY SPECIFICATIONS &amp; CREDITS</a:t>
            </a:r>
          </a:p>
          <a:p>
            <a:pPr>
              <a:defRPr sz="1050" b="1">
                <a:solidFill>
                  <a:srgbClr val="FFFFFF"/>
                </a:solidFill>
                <a:latin typeface="Segoe UI"/>
              </a:defRPr>
            </a:pPr>
            <a:r>
              <a:t>Source Repository Architecture</a:t>
            </a:r>
          </a:p>
          <a:p>
            <a:pPr>
              <a:defRPr sz="950">
                <a:solidFill>
                  <a:srgbClr val="CBD5E1"/>
                </a:solidFill>
                <a:latin typeface="Segoe UI"/>
              </a:defRPr>
            </a:pPr>
            <a:r>
              <a:t>•  Desktop Client: PyQt6 6.6.0+ (Custom dark stylesheet)</a:t>
            </a:r>
            <a:br/>
            <a:r>
              <a:t>•  REST Backend: Flask 3.0.0+ with CORS microservices</a:t>
            </a:r>
            <a:br/>
            <a:r>
              <a:t>•  Persistence: Hybrid SQLite3 + MongoDB + local filesystem</a:t>
            </a:r>
            <a:br/>
            <a:r>
              <a:t>•  Web Analytics: Streamlit 1.30.0+ with Plotly charts</a:t>
            </a:r>
          </a:p>
          <a:p>
            <a:pPr>
              <a:defRPr sz="1050" b="1">
                <a:solidFill>
                  <a:srgbClr val="FFFFFF"/>
                </a:solidFill>
                <a:latin typeface="Segoe UI"/>
              </a:defRPr>
            </a:pPr>
            <a:r>
              <a:t>Acknowledgements &amp; Guidance</a:t>
            </a:r>
          </a:p>
          <a:p>
            <a:pPr>
              <a:defRPr sz="950">
                <a:solidFill>
                  <a:srgbClr val="CBD5E1"/>
                </a:solidFill>
                <a:latin typeface="Segoe UI"/>
              </a:defRPr>
            </a:pPr>
            <a:r>
              <a:t>Special thanks to Prof. Rohit Gupta for mentorship and evaluation during the Advanced Python Capstone development lifecycle.</a:t>
            </a:r>
          </a:p>
        </p:txBody>
      </p:sp>
      <p:sp>
        <p:nvSpPr>
          <p:cNvPr id="10" name="Rectangle 9"/>
          <p:cNvSpPr/>
          <p:nvPr/>
        </p:nvSpPr>
        <p:spPr>
          <a:xfrm>
            <a:off x="731520" y="6446520"/>
            <a:ext cx="10728655" cy="13716"/>
          </a:xfrm>
          <a:prstGeom prst="rect">
            <a:avLst/>
          </a:prstGeom>
          <a:solidFill>
            <a:srgbClr val="23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4114800" cy="274320"/>
          </a:xfrm>
          <a:prstGeom prst="rect">
            <a:avLst/>
          </a:prstGeom>
          <a:noFill/>
        </p:spPr>
        <p:txBody>
          <a:bodyPr wrap="none">
            <a:spAutoFit/>
          </a:bodyPr>
          <a:lstStyle/>
          <a:p>
            <a:pPr>
              <a:defRPr sz="900">
                <a:solidFill>
                  <a:srgbClr val="64748B"/>
                </a:solidFill>
                <a:latin typeface="Segoe UI"/>
              </a:defRPr>
            </a:pPr>
            <a:r>
              <a:t>DocuVaultAI • Smart Document Management System</a:t>
            </a:r>
          </a:p>
        </p:txBody>
      </p:sp>
      <p:sp>
        <p:nvSpPr>
          <p:cNvPr id="12" name="TextBox 11"/>
          <p:cNvSpPr txBox="1"/>
          <p:nvPr/>
        </p:nvSpPr>
        <p:spPr>
          <a:xfrm>
            <a:off x="4572000" y="6473952"/>
            <a:ext cx="4114800" cy="274320"/>
          </a:xfrm>
          <a:prstGeom prst="rect">
            <a:avLst/>
          </a:prstGeom>
          <a:noFill/>
        </p:spPr>
        <p:txBody>
          <a:bodyPr wrap="none">
            <a:spAutoFit/>
          </a:bodyPr>
          <a:lstStyle/>
          <a:p>
            <a:pPr algn="ctr">
              <a:defRPr sz="900">
                <a:solidFill>
                  <a:srgbClr val="64748B"/>
                </a:solidFill>
                <a:latin typeface="Segoe UI"/>
              </a:defRPr>
            </a:pPr>
            <a:r>
              <a:t>Advanced Python ESE Project • Group 2</a:t>
            </a:r>
          </a:p>
        </p:txBody>
      </p:sp>
      <p:sp>
        <p:nvSpPr>
          <p:cNvPr id="13" name="TextBox 12"/>
          <p:cNvSpPr txBox="1"/>
          <p:nvPr/>
        </p:nvSpPr>
        <p:spPr>
          <a:xfrm>
            <a:off x="8686800" y="6473952"/>
            <a:ext cx="2743200" cy="274320"/>
          </a:xfrm>
          <a:prstGeom prst="rect">
            <a:avLst/>
          </a:prstGeom>
          <a:noFill/>
        </p:spPr>
        <p:txBody>
          <a:bodyPr wrap="none">
            <a:spAutoFit/>
          </a:bodyPr>
          <a:lstStyle/>
          <a:p>
            <a:pPr algn="r">
              <a:defRPr b="1" sz="950">
                <a:solidFill>
                  <a:srgbClr val="FF7A2E"/>
                </a:solidFill>
                <a:latin typeface="Segoe UI"/>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